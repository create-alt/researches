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arXiv v2（2017）を通読。採録先 IEEE TNNLS 29(7), 2018（DOI 10.1109/TNNLS.2017.2726060）は Crossref で確認。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arXiv v2（DAC 2019 採録版）を通読。比較対象の Kim+ 2018（Neurocomputing）は本文にアクセスできず、本論文中の記述から位相符号の式を引用した。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arXiv v4（2021-01, Nature MI 採録版相当）を通読。採録先は Crossref（DOI 10.1038/s42256-021-00311-4）で確認。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arXiv v1（TPAMI 採録版）を通読。検出・分割の詳細表は主要値のみ確認。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arXiv v2（2023-11）を通読（Supplementary は未読）。採録先 Nature Communications 15:6793（2024）は Crossref で確認。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arXiv v4（ECCV 2024 採録版）を通読。補足資料（網構造）は未読。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arXiv v6（2026-08, TCAD 採録と記載）を通読。初版は 2024-09。証明の付録は主要部のみ確認。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arXiv v1（2026-09）を付録まで通読。既存デッキ spiking-transformer では題目のみ参照していた論文を、本テーマで全文確認してスライド化した。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arXiv v1（2026-09）の本文（定理の主張・解釈・実験・結論）を通読。証明の付録は主要部のみ確認。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arXiv v1（2026-10）を通読。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arXiv v1（2026-10）を通読。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CHIAI_PAP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508760"/>
            <a:ext cx="3794760" cy="1508760"/>
          </a:xfrm>
          <a:prstGeom prst="rect">
            <a:avLst>
              <a:gd name="adj" fmla="val 4848"/>
            </a:avLst>
          </a:prstGeom>
          <a:solidFill>
            <a:srgbClr val="F2F4F8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1618488"/>
            <a:ext cx="310896" cy="310896"/>
          </a:xfrm>
          <a:prstGeom prst="ellipse">
            <a:avLst/>
          </a:prstGeom>
          <a:solidFill>
            <a:srgbClr val="D9480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どんなもの？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389120" y="1508760"/>
            <a:ext cx="3794760" cy="1508760"/>
          </a:xfrm>
          <a:prstGeom prst="rect">
            <a:avLst>
              <a:gd name="adj" fmla="val 4848"/>
            </a:avLst>
          </a:prstGeom>
          <a:solidFill>
            <a:srgbClr val="F2F4F8"/>
          </a:solidFill>
          <a:ln/>
        </p:spPr>
      </p:sp>
      <p:sp>
        <p:nvSpPr>
          <p:cNvPr id="6" name="Text 4"/>
          <p:cNvSpPr/>
          <p:nvPr/>
        </p:nvSpPr>
        <p:spPr>
          <a:xfrm>
            <a:off x="4526280" y="1618488"/>
            <a:ext cx="310896" cy="310896"/>
          </a:xfrm>
          <a:prstGeom prst="ellipse">
            <a:avLst/>
          </a:prstGeom>
          <a:solidFill>
            <a:srgbClr val="D9480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937760" y="160020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先行研究と比べてどこがすごい？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154680"/>
            <a:ext cx="3794760" cy="1508760"/>
          </a:xfrm>
          <a:prstGeom prst="rect">
            <a:avLst>
              <a:gd name="adj" fmla="val 4848"/>
            </a:avLst>
          </a:prstGeom>
          <a:solidFill>
            <a:srgbClr val="F2F4F8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3264408"/>
            <a:ext cx="310896" cy="310896"/>
          </a:xfrm>
          <a:prstGeom prst="ellipse">
            <a:avLst/>
          </a:prstGeom>
          <a:solidFill>
            <a:srgbClr val="D9480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324612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技術や手法のキモはどこ？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89120" y="3154680"/>
            <a:ext cx="3794760" cy="1508760"/>
          </a:xfrm>
          <a:prstGeom prst="rect">
            <a:avLst>
              <a:gd name="adj" fmla="val 4848"/>
            </a:avLst>
          </a:prstGeom>
          <a:solidFill>
            <a:srgbClr val="F2F4F8"/>
          </a:solidFill>
          <a:ln/>
        </p:spPr>
      </p:sp>
      <p:sp>
        <p:nvSpPr>
          <p:cNvPr id="12" name="Text 10"/>
          <p:cNvSpPr/>
          <p:nvPr/>
        </p:nvSpPr>
        <p:spPr>
          <a:xfrm>
            <a:off x="4526280" y="3264408"/>
            <a:ext cx="310896" cy="310896"/>
          </a:xfrm>
          <a:prstGeom prst="ellipse">
            <a:avLst/>
          </a:prstGeom>
          <a:solidFill>
            <a:srgbClr val="D9480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37760" y="324612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どうやって有効だと検証した？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4800600"/>
            <a:ext cx="3794760" cy="1508760"/>
          </a:xfrm>
          <a:prstGeom prst="rect">
            <a:avLst>
              <a:gd name="adj" fmla="val 4848"/>
            </a:avLst>
          </a:prstGeom>
          <a:solidFill>
            <a:srgbClr val="F2F4F8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4910328"/>
            <a:ext cx="310896" cy="310896"/>
          </a:xfrm>
          <a:prstGeom prst="ellipse">
            <a:avLst/>
          </a:prstGeom>
          <a:solidFill>
            <a:srgbClr val="D9480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05840" y="489204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議論はある？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389120" y="4800600"/>
            <a:ext cx="3794760" cy="1508760"/>
          </a:xfrm>
          <a:prstGeom prst="rect">
            <a:avLst>
              <a:gd name="adj" fmla="val 4848"/>
            </a:avLst>
          </a:prstGeom>
          <a:solidFill>
            <a:srgbClr val="F2F4F8"/>
          </a:solidFill>
          <a:ln/>
        </p:spPr>
      </p:sp>
      <p:sp>
        <p:nvSpPr>
          <p:cNvPr id="18" name="Text 16"/>
          <p:cNvSpPr/>
          <p:nvPr/>
        </p:nvSpPr>
        <p:spPr>
          <a:xfrm>
            <a:off x="4526280" y="4910328"/>
            <a:ext cx="310896" cy="310896"/>
          </a:xfrm>
          <a:prstGeom prst="ellipse">
            <a:avLst/>
          </a:prstGeom>
          <a:solidFill>
            <a:srgbClr val="D9480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60" y="489204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次に読むべき論文は？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366760" y="4389120"/>
            <a:ext cx="3367735" cy="1920240"/>
          </a:xfrm>
          <a:prstGeom prst="rect">
            <a:avLst>
              <a:gd name="adj" fmla="val 3810"/>
            </a:avLst>
          </a:prstGeom>
          <a:solidFill>
            <a:srgbClr val="F2F4F8"/>
          </a:solidFill>
          <a:ln/>
        </p:spPr>
      </p:sp>
      <p:sp>
        <p:nvSpPr>
          <p:cNvPr id="21" name="Text 19"/>
          <p:cNvSpPr/>
          <p:nvPr/>
        </p:nvSpPr>
        <p:spPr>
          <a:xfrm>
            <a:off x="8503920" y="4480560"/>
            <a:ext cx="3093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書誌情報</a:t>
            </a:r>
            <a:endParaRPr lang="en-US" sz="1300" dirty="0"/>
          </a:p>
        </p:txBody>
      </p:sp>
      <p:sp>
        <p:nvSpPr>
          <p:cNvPr id="22" name="Text 20"/>
          <p:cNvSpPr/>
          <p:nvPr>
            <p:ph idx="120" type="body" hasCustomPrompt="1"/>
          </p:nvPr>
        </p:nvSpPr>
        <p:spPr>
          <a:xfrm>
            <a:off x="621792" y="1984248"/>
            <a:ext cx="3465576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23" name="Text 20"/>
          <p:cNvSpPr/>
          <p:nvPr>
            <p:ph idx="121" type="body" hasCustomPrompt="1"/>
          </p:nvPr>
        </p:nvSpPr>
        <p:spPr>
          <a:xfrm>
            <a:off x="4553712" y="1984248"/>
            <a:ext cx="3465576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24" name="Text 20"/>
          <p:cNvSpPr/>
          <p:nvPr>
            <p:ph idx="122" type="body" hasCustomPrompt="1"/>
          </p:nvPr>
        </p:nvSpPr>
        <p:spPr>
          <a:xfrm>
            <a:off x="621792" y="3630168"/>
            <a:ext cx="3465576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25" name="Text 20"/>
          <p:cNvSpPr/>
          <p:nvPr>
            <p:ph idx="123" type="body" hasCustomPrompt="1"/>
          </p:nvPr>
        </p:nvSpPr>
        <p:spPr>
          <a:xfrm>
            <a:off x="4553712" y="3630168"/>
            <a:ext cx="3465576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26" name="Text 20"/>
          <p:cNvSpPr/>
          <p:nvPr>
            <p:ph idx="124" type="body" hasCustomPrompt="1"/>
          </p:nvPr>
        </p:nvSpPr>
        <p:spPr>
          <a:xfrm>
            <a:off x="621792" y="5276088"/>
            <a:ext cx="3465576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27" name="Text 20"/>
          <p:cNvSpPr/>
          <p:nvPr>
            <p:ph idx="125" type="body" hasCustomPrompt="1"/>
          </p:nvPr>
        </p:nvSpPr>
        <p:spPr>
          <a:xfrm>
            <a:off x="4553712" y="5276088"/>
            <a:ext cx="3465576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28" name="Text 20"/>
          <p:cNvSpPr/>
          <p:nvPr>
            <p:ph idx="126" type="body" hasCustomPrompt="1"/>
          </p:nvPr>
        </p:nvSpPr>
        <p:spPr>
          <a:xfrm>
            <a:off x="457200" y="274320"/>
            <a:ext cx="11277295" cy="256032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  <p:sp>
        <p:nvSpPr>
          <p:cNvPr id="29" name="Text 20"/>
          <p:cNvSpPr/>
          <p:nvPr>
            <p:ph idx="127" type="body" hasCustomPrompt="1"/>
          </p:nvPr>
        </p:nvSpPr>
        <p:spPr>
          <a:xfrm>
            <a:off x="457200" y="530352"/>
            <a:ext cx="11277295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2400" dirty="0"/>
          </a:p>
        </p:txBody>
      </p:sp>
      <p:sp>
        <p:nvSpPr>
          <p:cNvPr id="30" name="Text 20"/>
          <p:cNvSpPr/>
          <p:nvPr>
            <p:ph idx="128" type="body" hasCustomPrompt="1"/>
          </p:nvPr>
        </p:nvSpPr>
        <p:spPr>
          <a:xfrm>
            <a:off x="457200" y="1115568"/>
            <a:ext cx="11277295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1" name="Text 20"/>
          <p:cNvSpPr/>
          <p:nvPr>
            <p:ph idx="129" type="body" hasCustomPrompt="1"/>
          </p:nvPr>
        </p:nvSpPr>
        <p:spPr>
          <a:xfrm>
            <a:off x="8503920" y="4828032"/>
            <a:ext cx="3093415" cy="140817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1050" dirty="0"/>
          </a:p>
        </p:txBody>
      </p:sp>
      <p:sp>
        <p:nvSpPr>
          <p:cNvPr id="32" name="Text 20"/>
          <p:cNvSpPr/>
          <p:nvPr>
            <p:ph idx="130" type="body" hasCustomPrompt="1"/>
          </p:nvPr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CHIAI_COV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411480"/>
            <a:ext cx="11277295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731520"/>
            <a:ext cx="11277295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6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508760"/>
            <a:ext cx="1127729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arxiv.org/abs/1606.08165" TargetMode="External"/><Relationship Id="rId2" Type="http://schemas.openxmlformats.org/officeDocument/2006/relationships/image" Target="../media/image-2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arxiv.org/abs/1809.03142" TargetMode="External"/><Relationship Id="rId2" Type="http://schemas.openxmlformats.org/officeDocument/2006/relationships/image" Target="../media/image-3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arxiv.org/abs/2002.00860" TargetMode="External"/><Relationship Id="rId2" Type="http://schemas.openxmlformats.org/officeDocument/2006/relationships/image" Target="../media/image-4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arxiv.org/abs/2305.19868" TargetMode="External"/><Relationship Id="rId2" Type="http://schemas.openxmlformats.org/officeDocument/2006/relationships/image" Target="../media/image-5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arxiv.org/abs/2306.08744" TargetMode="External"/><Relationship Id="rId2" Type="http://schemas.openxmlformats.org/officeDocument/2006/relationships/image" Target="../media/image-6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arxiv.org/abs/2407.20708" TargetMode="External"/><Relationship Id="rId2" Type="http://schemas.openxmlformats.org/officeDocument/2006/relationships/image" Target="../media/image-7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arxiv.org/abs/2409.08290" TargetMode="External"/><Relationship Id="rId2" Type="http://schemas.openxmlformats.org/officeDocument/2006/relationships/image" Target="../media/image-8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s://arxiv.org/abs/2609.05151" TargetMode="External"/><Relationship Id="rId2" Type="http://schemas.openxmlformats.org/officeDocument/2006/relationships/image" Target="../media/image-9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arxiv.org/abs/2609.11227" TargetMode="External"/><Relationship Id="rId2" Type="http://schemas.openxmlformats.org/officeDocument/2006/relationships/image" Target="../media/image-10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s://arxiv.org/abs/2610.03291" TargetMode="External"/><Relationship Id="rId2" Type="http://schemas.openxmlformats.org/officeDocument/2006/relationships/image" Target="../media/image-11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hyperlink" Target="https://arxiv.org/abs/2610.10933" TargetMode="External"/><Relationship Id="rId2" Type="http://schemas.openxmlformats.org/officeDocument/2006/relationships/image" Target="../media/image-12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41148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SNN（スパイキングニューラルネットワーク） ｜ 先行研究調査（2026-10-23）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73152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スパイク符号化と量子化の境界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508760"/>
            <a:ext cx="11277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スパイクで値をどう表すか（レート・TTFS・位相/バースト・多値）と、低ビット量子化 ANN との等価性を追う系譜。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レート符号＝一様量子化（Fast-SNN）、TTFS＝ReLU（Stanojevic）の等価写像が整い、整数で学習しスパイクで推論する設計（I-LIF）へ進んだ。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 年は TTFS-LLM と 2 進時間重み符号（Spora）が現れ、等価性が破れる箇所（注意の TIM、TTFS の領域幾何、QNN 比のエネルギー）の解明が進む。</a:t>
            </a:r>
            <a:endParaRPr lang="en-US" sz="13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Research Survey ｜ SNN（スパイキングニューラルネットワーク） › スパイク符号化と量子化の境界</a:t>
            </a:r>
            <a:endParaRPr lang="en-US" sz="10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468880"/>
          <a:ext cx="11277295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685800"/>
                <a:gridCol w="6949440"/>
                <a:gridCol w="1828800"/>
                <a:gridCol w="1401775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#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年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論文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発表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系譜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7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2017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TTFS 直接学習 (Mostafa 2017)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IEEE TNNLS 2018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原典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2019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バースト/位相符号 (Park+ 2019)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DAC 2019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原典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2021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FS ニューロン (Stöckl &amp; Maass 2021)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Nature Machine Intelligence 2021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発展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2023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Fast-SNN (Hu+ 2023)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IEEE TPAMI 2023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発展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2024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TTFS≡ReLU (Stanojevic+ 2024)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Nature Communications 2024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発展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2024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SpikeYOLO / I-LIF (Luo+ 2024)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ECCV 2024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発展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2024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QNN-SNN 双子のエネルギー (Yan+ 2024)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IEEE TCAD 2026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発展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2026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TTFS-LLM (Zhao+ 2026)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arXiv プレプリント 2026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最新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9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2026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TTFS 多面体幾何 (Singh+ 2026)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arXiv プレプリント 2026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最新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2026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PT-SSA (Xue+ 2026)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arXiv プレプリント 2026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最新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11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2026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Spora (Liu+ 2026)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arXiv プレプリント 2026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最新</a:t>
                      </a:r>
                      <a:endParaRPr lang="en-US" sz="10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0"/>
          <p:cNvSpPr/>
          <p:nvPr>
            <p:ph idx="126" type="body" hasCustomPrompt="1"/>
          </p:nvPr>
        </p:nvSpPr>
        <p:spPr>
          <a:xfrm>
            <a:off x="457200" y="274320"/>
            <a:ext cx="11277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SNN（スパイキングニューラルネットワーク） › スパイク符号化と量子化の境界 ｜ 系譜：原典</a:t>
            </a:r>
            <a:endParaRPr lang="en-US" sz="1100" dirty="0"/>
          </a:p>
        </p:txBody>
      </p:sp>
      <p:sp>
        <p:nvSpPr>
          <p:cNvPr id="3" name="Text 20"/>
          <p:cNvSpPr/>
          <p:nvPr>
            <p:ph idx="127" type="body" hasCustomPrompt="1"/>
          </p:nvPr>
        </p:nvSpPr>
        <p:spPr>
          <a:xfrm>
            <a:off x="457200" y="530352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50"/>
              </a:lnSpc>
              <a:buNone/>
            </a:pPr>
            <a:r>
              <a:rPr lang="en-US" sz="18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Supervised learning based on temporal coding in spiking neural networks</a:t>
            </a:r>
            <a:endParaRPr lang="en-US" sz="2400" dirty="0"/>
          </a:p>
        </p:txBody>
      </p:sp>
      <p:sp>
        <p:nvSpPr>
          <p:cNvPr id="4" name="Text 20"/>
          <p:cNvSpPr/>
          <p:nvPr>
            <p:ph idx="128" type="body" hasCustomPrompt="1"/>
          </p:nvPr>
        </p:nvSpPr>
        <p:spPr>
          <a:xfrm>
            <a:off x="457200" y="1115568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Hesham Mostafa（UC San Diego）｜ IEEE TNNLS 2018</a:t>
            </a:r>
            <a:endParaRPr lang="en-US" sz="1200" dirty="0"/>
          </a:p>
        </p:txBody>
      </p:sp>
      <p:sp>
        <p:nvSpPr>
          <p:cNvPr id="5" name="Text 20"/>
          <p:cNvSpPr/>
          <p:nvPr>
            <p:ph idx="120" type="body" hasCustomPrompt="1"/>
          </p:nvPr>
        </p:nvSpPr>
        <p:spPr>
          <a:xfrm>
            <a:off x="62179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情報をスパイクの発火時刻に載せ、各ニューロンが高々1回だけ発火する時間符号化 SNN を誤差逆伝播で直接学習した。変数変換 z=exp(t) で入出力が区分線形になることを示し、MNIST で誤り率 2.45% を達成した。</a:t>
            </a:r>
            <a:endParaRPr lang="en-US" sz="1200" dirty="0"/>
          </a:p>
        </p:txBody>
      </p:sp>
      <p:sp>
        <p:nvSpPr>
          <p:cNvPr id="6" name="Text 20"/>
          <p:cNvSpPr/>
          <p:nvPr>
            <p:ph idx="121" type="body" hasCustomPrompt="1"/>
          </p:nvPr>
        </p:nvSpPr>
        <p:spPr>
          <a:xfrm>
            <a:off x="455371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従来の ANN→SNN 変換はレート符号で多数のスパイクを要する。SpikeProp は遅延素子の組合せに依存し、確率的手法はシミュレーションが重い。本手法は発火時刻の解析式から勾配を得るため、学習中に SNN を時間方向にシミュレーションしなくてよい。</a:t>
            </a:r>
            <a:endParaRPr lang="en-US" sz="1200" dirty="0"/>
          </a:p>
        </p:txBody>
      </p:sp>
      <p:sp>
        <p:nvSpPr>
          <p:cNvPr id="7" name="Text 20"/>
          <p:cNvSpPr/>
          <p:nvPr>
            <p:ph idx="122" type="body" hasCustomPrompt="1"/>
          </p:nvPr>
        </p:nvSpPr>
        <p:spPr>
          <a:xfrm>
            <a:off x="62179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非リーク IF＋指数減衰シナプス電流。発火前に届いた入力の集合（因果集合 C）だけが出力時刻を決める：</a:t>
            </a:r>
            <a:endParaRPr lang="en-US" sz="12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z_out = Σ_{i∈C} w_i z_i ／ (Σ_{i∈C} w_i − 1)</a:t>
            </a:r>
            <a:endParaRPr lang="en-US" sz="12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入力に応じて C が切り替わる点が、ReLU の活性パターンの切り替わりに相当する。</a:t>
            </a:r>
            <a:endParaRPr lang="en-US" sz="1200" dirty="0"/>
          </a:p>
        </p:txBody>
      </p:sp>
      <p:sp>
        <p:nvSpPr>
          <p:cNvPr id="8" name="Text 20"/>
          <p:cNvSpPr/>
          <p:nvPr>
            <p:ph idx="123" type="body" hasCustomPrompt="1"/>
          </p:nvPr>
        </p:nvSpPr>
        <p:spPr>
          <a:xfrm>
            <a:off x="455371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XOR と置換不変 MNIST で評価。784-800-10 でテスト誤り 2.45%（雑音付き学習）、784-400-400-10 で 2.86%（Table 1）。出力は隠れ層の 3.0%（2 層版では 9.4%）が発火した時点で決まり、1〜3 時定数で判定が出る（Fig. 3）。</a:t>
            </a:r>
            <a:endParaRPr lang="en-US" sz="1200" dirty="0"/>
          </a:p>
        </p:txBody>
      </p:sp>
      <p:sp>
        <p:nvSpPr>
          <p:cNvPr id="9" name="Text 20"/>
          <p:cNvSpPr/>
          <p:nvPr>
            <p:ph idx="124" type="body" hasCustomPrompt="1"/>
          </p:nvPr>
        </p:nvSpPr>
        <p:spPr>
          <a:xfrm>
            <a:off x="62179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著者：重み和の制約と勾配正規化がないと、網が沈黙するか勾配が発散する。過学習が強く、dropout は発火を妨げるので使えない。</a:t>
            </a:r>
            <a:endParaRPr lang="en-US" sz="12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所感：精度は当時の MLP に及ばない。それでも「TTFS は区分線形＝ReLU 的」という後の等価性議論の出発点になった。</a:t>
            </a:r>
            <a:endParaRPr lang="en-US" sz="1200" dirty="0"/>
          </a:p>
        </p:txBody>
      </p:sp>
      <p:sp>
        <p:nvSpPr>
          <p:cNvPr id="10" name="Text 20"/>
          <p:cNvSpPr/>
          <p:nvPr>
            <p:ph idx="125" type="body" hasCustomPrompt="1"/>
          </p:nvPr>
        </p:nvSpPr>
        <p:spPr>
          <a:xfrm>
            <a:off x="455371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・Göltz+ 2021 first-spike times on BrainScaleS-2（未調査）</a:t>
            </a: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・Stanojevic+ 2024 0.3 spikes/neuron（本資料）</a:t>
            </a: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・Singh+ 2026 TTFS の多面体幾何（本資料）</a:t>
            </a:r>
            <a:endParaRPr lang="en-US" sz="1200" dirty="0"/>
          </a:p>
        </p:txBody>
      </p:sp>
      <p:sp>
        <p:nvSpPr>
          <p:cNvPr id="11" name="Text 20"/>
          <p:cNvSpPr/>
          <p:nvPr>
            <p:ph idx="129" type="body" hasCustomPrompt="1"/>
          </p:nvPr>
        </p:nvSpPr>
        <p:spPr>
          <a:xfrm>
            <a:off x="8503920" y="4828032"/>
            <a:ext cx="3093415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発表：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IEEE TNNLS 2018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リンク：</a:t>
            </a:r>
            <a:pPr indent="0" marL="0">
              <a:lnSpc>
                <a:spcPts val="1400"/>
              </a:lnSpc>
              <a:buNone/>
            </a:pPr>
            <a:r>
              <a:rPr lang="en-US" sz="1050" u="sng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https://arxiv.org/abs/1606.08165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系譜：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原典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調査日：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2026-10-23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確認範囲：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全文（問題提起・手法・実験・結果・考察）</a:t>
            </a:r>
            <a:endParaRPr lang="en-US" sz="1050" dirty="0"/>
          </a:p>
        </p:txBody>
      </p:sp>
      <p:sp>
        <p:nvSpPr>
          <p:cNvPr id="12" name="Text 20"/>
          <p:cNvSpPr/>
          <p:nvPr>
            <p:ph idx="130" type="body" hasCustomPrompt="1"/>
          </p:nvPr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Research Survey ｜ SNN（スパイキングニューラルネットワーク） › スパイク符号化と量子化の境界</a:t>
            </a:r>
            <a:endParaRPr lang="en-US" sz="1000" dirty="0"/>
          </a:p>
        </p:txBody>
      </p:sp>
      <p:pic>
        <p:nvPicPr>
          <p:cNvPr id="13" name="Image 0" descr="/tmp/claude-0/-home-user-researches/dc3d135a-4bab-5b84-bcb3-e0d06fe39570/scratchpad/stage/snn/spike-coding/figures/mostafa2017_fig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1590938"/>
            <a:ext cx="3367735" cy="2213083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8366760" y="3931920"/>
            <a:ext cx="3367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出典：Mostafa 2017 Fig. 1（因果入力集合が変わると z 領域での線形関係が切り替わる）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0"/>
          <p:cNvSpPr/>
          <p:nvPr>
            <p:ph idx="126" type="body" hasCustomPrompt="1"/>
          </p:nvPr>
        </p:nvSpPr>
        <p:spPr>
          <a:xfrm>
            <a:off x="457200" y="274320"/>
            <a:ext cx="11277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SNN（スパイキングニューラルネットワーク） › スパイク符号化と量子化の境界 ｜ 系譜：原典</a:t>
            </a:r>
            <a:endParaRPr lang="en-US" sz="1100" dirty="0"/>
          </a:p>
        </p:txBody>
      </p:sp>
      <p:sp>
        <p:nvSpPr>
          <p:cNvPr id="3" name="Text 20"/>
          <p:cNvSpPr/>
          <p:nvPr>
            <p:ph idx="127" type="body" hasCustomPrompt="1"/>
          </p:nvPr>
        </p:nvSpPr>
        <p:spPr>
          <a:xfrm>
            <a:off x="457200" y="530352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50"/>
              </a:lnSpc>
              <a:buNone/>
            </a:pPr>
            <a:r>
              <a:rPr lang="en-US" sz="16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Fast and Efficient Information Transmission with Burst Spikes in Deep Spiking Neural Networks</a:t>
            </a:r>
            <a:endParaRPr lang="en-US" sz="2400" dirty="0"/>
          </a:p>
        </p:txBody>
      </p:sp>
      <p:sp>
        <p:nvSpPr>
          <p:cNvPr id="4" name="Text 20"/>
          <p:cNvSpPr/>
          <p:nvPr>
            <p:ph idx="128" type="body" hasCustomPrompt="1"/>
          </p:nvPr>
        </p:nvSpPr>
        <p:spPr>
          <a:xfrm>
            <a:off x="457200" y="1115568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Seongsik Park, Seijoon Kim, Hyeokjun Choe, Sungroh Yoon（ソウル大学）｜ DAC 2019</a:t>
            </a:r>
            <a:endParaRPr lang="en-US" sz="1200" dirty="0"/>
          </a:p>
        </p:txBody>
      </p:sp>
      <p:sp>
        <p:nvSpPr>
          <p:cNvPr id="5" name="Text 20"/>
          <p:cNvSpPr/>
          <p:nvPr>
            <p:ph idx="120" type="body" hasCustomPrompt="1"/>
          </p:nvPr>
        </p:nvSpPr>
        <p:spPr>
          <a:xfrm>
            <a:off x="62179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変換型の深い SNN で、ニューロン間の情報伝達を速く省エネにする方法を提案した。短い間隔の連発で値を送るバースト符号化と、入力層は位相符号・隠れ層はバースト符号という層別のハイブリッド符号化を組み合わせる。</a:t>
            </a:r>
            <a:endParaRPr lang="en-US" sz="1200" dirty="0"/>
          </a:p>
        </p:txBody>
      </p:sp>
      <p:sp>
        <p:nvSpPr>
          <p:cNvPr id="6" name="Text 20"/>
          <p:cNvSpPr/>
          <p:nvPr>
            <p:ph idx="121" type="body" hasCustomPrompt="1"/>
          </p:nvPr>
        </p:nvSpPr>
        <p:spPr>
          <a:xfrm>
            <a:off x="455371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レート符号は k ビットを表すのに 2^k ステップを要し遅い。Kim+ 2018 の位相符号（重み付きスパイク）は速いがスパイク数が多く、送る情報量を適応的に変えられない。本手法は層の役割に応じて両者の欠点を補う。</a:t>
            </a:r>
            <a:endParaRPr lang="en-US" sz="1200" dirty="0"/>
          </a:p>
        </p:txBody>
      </p:sp>
      <p:sp>
        <p:nvSpPr>
          <p:cNvPr id="7" name="Text 20"/>
          <p:cNvSpPr/>
          <p:nvPr>
            <p:ph idx="122" type="body" hasCustomPrompt="1"/>
          </p:nvPr>
        </p:nvSpPr>
        <p:spPr>
          <a:xfrm>
            <a:off x="62179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発火直後に閾値へ β を掛けて下げ（g(t)=β·g(t−1)）、連続発火ほど実効重み w·g(t) が大きくなるようにした。位相符号は振動 Π(t)=2^−(1+t mod k) で閾値を変え、k ステップで k ビットを送る。</a:t>
            </a:r>
            <a:endParaRPr lang="en-US" sz="1200" dirty="0"/>
          </a:p>
        </p:txBody>
      </p:sp>
      <p:sp>
        <p:nvSpPr>
          <p:cNvPr id="8" name="Text 20"/>
          <p:cNvSpPr/>
          <p:nvPr>
            <p:ph idx="123" type="body" hasCustomPrompt="1"/>
          </p:nvPr>
        </p:nvSpPr>
        <p:spPr>
          <a:xfrm>
            <a:off x="455371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CIFAR-10 の VGG-16（DNN 91.41%）を変換。phase-burst は 91.41% を 1,125 ステップ・6.92M スパイクで達成し、phase-phase（91.21%, 35.2M）や real-rate（91.06%, 1,500 ステップ）を上回った（Table 1, 2）。CIFAR-100 は 68.69%。</a:t>
            </a:r>
            <a:endParaRPr lang="en-US" sz="1200" dirty="0"/>
          </a:p>
        </p:txBody>
      </p:sp>
      <p:sp>
        <p:nvSpPr>
          <p:cNvPr id="9" name="Text 20"/>
          <p:cNvSpPr/>
          <p:nvPr>
            <p:ph idx="124" type="body" hasCustomPrompt="1"/>
          </p:nvPr>
        </p:nvSpPr>
        <p:spPr>
          <a:xfrm>
            <a:off x="62179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著者：v_th を下げるほど高精度・低遅延になるが、スパイクは増える（精度とスパイク数のトレードオフ）。</a:t>
            </a:r>
            <a:endParaRPr lang="en-US" sz="12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所感：位相符号は 2 進の位取り、バーストは多値スパイクの原型にあたる。ただし数百〜千ステップ級で、近年の T≤4 とは桁が違う。</a:t>
            </a:r>
            <a:endParaRPr lang="en-US" sz="1200" dirty="0"/>
          </a:p>
        </p:txBody>
      </p:sp>
      <p:sp>
        <p:nvSpPr>
          <p:cNvPr id="10" name="Text 20"/>
          <p:cNvSpPr/>
          <p:nvPr>
            <p:ph idx="125" type="body" hasCustomPrompt="1"/>
          </p:nvPr>
        </p:nvSpPr>
        <p:spPr>
          <a:xfrm>
            <a:off x="455371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・Kim+ 2018 Deep neural networks with weighted spikes（本文未確認）</a:t>
            </a: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・Stöckl &amp; Maass 2021 FS ニューロン（本資料）</a:t>
            </a: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・Spora 2026（本資料）</a:t>
            </a:r>
            <a:endParaRPr lang="en-US" sz="1200" dirty="0"/>
          </a:p>
        </p:txBody>
      </p:sp>
      <p:sp>
        <p:nvSpPr>
          <p:cNvPr id="11" name="Text 20"/>
          <p:cNvSpPr/>
          <p:nvPr>
            <p:ph idx="129" type="body" hasCustomPrompt="1"/>
          </p:nvPr>
        </p:nvSpPr>
        <p:spPr>
          <a:xfrm>
            <a:off x="8503920" y="4828032"/>
            <a:ext cx="3093415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発表：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DAC 2019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リンク：</a:t>
            </a:r>
            <a:pPr indent="0" marL="0">
              <a:lnSpc>
                <a:spcPts val="1400"/>
              </a:lnSpc>
              <a:buNone/>
            </a:pPr>
            <a:r>
              <a:rPr lang="en-US" sz="1050" u="sng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https://arxiv.org/abs/1809.03142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系譜：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原典（← 位相符号 (Kim+ 2018)）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調査日：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2026-10-23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確認範囲：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全文（問題提起・手法・実験・結果・考察）</a:t>
            </a:r>
            <a:endParaRPr lang="en-US" sz="1050" dirty="0"/>
          </a:p>
        </p:txBody>
      </p:sp>
      <p:sp>
        <p:nvSpPr>
          <p:cNvPr id="12" name="Text 20"/>
          <p:cNvSpPr/>
          <p:nvPr>
            <p:ph idx="130" type="body" hasCustomPrompt="1"/>
          </p:nvPr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Research Survey ｜ SNN（スパイキングニューラルネットワーク） › スパイク符号化と量子化の境界</a:t>
            </a:r>
            <a:endParaRPr lang="en-US" sz="1000" dirty="0"/>
          </a:p>
        </p:txBody>
      </p:sp>
      <p:pic>
        <p:nvPicPr>
          <p:cNvPr id="13" name="Image 0" descr="/tmp/claude-0/-home-user-researches/dc3d135a-4bab-5b84-bcb3-e0d06fe39570/scratchpad/stage/snn/spike-coding/figures/park2019_fig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1831341"/>
            <a:ext cx="3367735" cy="1732279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8366760" y="3931920"/>
            <a:ext cx="3367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出典：Park+ 2019 Fig. 1（レート・位相・バースト符号のスパイク列、PSP、ISI 分布）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0"/>
          <p:cNvSpPr/>
          <p:nvPr>
            <p:ph idx="126" type="body" hasCustomPrompt="1"/>
          </p:nvPr>
        </p:nvSpPr>
        <p:spPr>
          <a:xfrm>
            <a:off x="457200" y="274320"/>
            <a:ext cx="11277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SNN（スパイキングニューラルネットワーク） › スパイク符号化と量子化の境界 ｜ 系譜：発展</a:t>
            </a:r>
            <a:endParaRPr lang="en-US" sz="1100" dirty="0"/>
          </a:p>
        </p:txBody>
      </p:sp>
      <p:sp>
        <p:nvSpPr>
          <p:cNvPr id="3" name="Text 20"/>
          <p:cNvSpPr/>
          <p:nvPr>
            <p:ph idx="127" type="body" hasCustomPrompt="1"/>
          </p:nvPr>
        </p:nvSpPr>
        <p:spPr>
          <a:xfrm>
            <a:off x="457200" y="530352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50"/>
              </a:lnSpc>
              <a:buNone/>
            </a:pPr>
            <a:r>
              <a:rPr lang="en-US" sz="16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Optimized spiking neurons can classify images with high accuracy through temporal coding with two spikes</a:t>
            </a:r>
            <a:endParaRPr lang="en-US" sz="2400" dirty="0"/>
          </a:p>
        </p:txBody>
      </p:sp>
      <p:sp>
        <p:nvSpPr>
          <p:cNvPr id="4" name="Text 20"/>
          <p:cNvSpPr/>
          <p:nvPr>
            <p:ph idx="128" type="body" hasCustomPrompt="1"/>
          </p:nvPr>
        </p:nvSpPr>
        <p:spPr>
          <a:xfrm>
            <a:off x="457200" y="1115568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Christoph Stöckl, Wolfgang Maass（グラーツ工科大学）｜ Nature Machine Intelligence 2021</a:t>
            </a:r>
            <a:endParaRPr lang="en-US" sz="1200" dirty="0"/>
          </a:p>
        </p:txBody>
      </p:sp>
      <p:sp>
        <p:nvSpPr>
          <p:cNvPr id="5" name="Text 20"/>
          <p:cNvSpPr/>
          <p:nvPr>
            <p:ph idx="120" type="body" hasCustomPrompt="1"/>
          </p:nvPr>
        </p:nvSpPr>
        <p:spPr>
          <a:xfrm>
            <a:off x="62179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発火の「数」だけでなく「いつ」発火したかにも重み d(t) を持たせた Few-Spikes（FS）ニューロンを最適化し、学習済み CNN を変換した。EfficientNet-B7 を ImageNet 83.57%、平均約 2 スパイク/ニューロンで SNN 化した。</a:t>
            </a:r>
            <a:endParaRPr lang="en-US" sz="1200" dirty="0"/>
          </a:p>
        </p:txBody>
      </p:sp>
      <p:sp>
        <p:nvSpPr>
          <p:cNvPr id="6" name="Text 20"/>
          <p:cNvSpPr/>
          <p:nvPr>
            <p:ph idx="121" type="body" hasCustomPrompt="1"/>
          </p:nvPr>
        </p:nvSpPr>
        <p:spPr>
          <a:xfrm>
            <a:off x="455371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Rueckauer+ 2017 型のレート変換は約 550 ステップと多数のスパイクを要し、負値をとる SiLU も扱えない。TTFS 変換（Rueckauer &amp; Liu 2018）は大規模データでの検証がない。FS は時刻を位取りとして使い、両方の問題を解く。</a:t>
            </a:r>
            <a:endParaRPr lang="en-US" sz="1200" dirty="0"/>
          </a:p>
        </p:txBody>
      </p:sp>
      <p:sp>
        <p:nvSpPr>
          <p:cNvPr id="7" name="Text 20"/>
          <p:cNvSpPr/>
          <p:nvPr>
            <p:ph idx="122" type="body" hasCustomPrompt="1"/>
          </p:nvPr>
        </p:nvSpPr>
        <p:spPr>
          <a:xfrm>
            <a:off x="62179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 ステップで v(1)=x、z(t)=Θ(v(t)−T(t))、v(t+1)=v(t)−h(t)z(t)、出力 f̂(x)=Σ d(t)z(t)。ReLU では T=h=d=2^{K−t} とすると、出力は x の 2 進表現そのものになる（K ステップで 2^K 値）。SiLU などは BPTT で T, h, d を学習する。</a:t>
            </a:r>
            <a:endParaRPr lang="en-US" sz="1200" dirty="0"/>
          </a:p>
        </p:txBody>
      </p:sp>
      <p:sp>
        <p:nvSpPr>
          <p:cNvPr id="8" name="Text 20"/>
          <p:cNvSpPr/>
          <p:nvPr>
            <p:ph idx="123" type="body" hasCustomPrompt="1"/>
          </p:nvPr>
        </p:nvSpPr>
        <p:spPr>
          <a:xfrm>
            <a:off x="455371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ImageNet：EfficientNet-B7 85%→83.57%（K=16）、ResNet50 75.22%→75.10%（K=10）。CIFAR-10：ResNet20 91.58%→91.45%（Table 1）。2K ステップごとに新しい画像を処理でき、スループットはレート変換の約 25〜125 倍と見積もる。</a:t>
            </a:r>
            <a:endParaRPr lang="en-US" sz="1200" dirty="0"/>
          </a:p>
        </p:txBody>
      </p:sp>
      <p:sp>
        <p:nvSpPr>
          <p:cNvPr id="9" name="Text 20"/>
          <p:cNvSpPr/>
          <p:nvPr>
            <p:ph idx="124" type="body" hasCustomPrompt="1"/>
          </p:nvPr>
        </p:nvSpPr>
        <p:spPr>
          <a:xfrm>
            <a:off x="62179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著者：レート符号は単項符号、FS は 2 進符号なので log2 N ステップ・スパイクで済む。SE ブロックの乗算は変換せず外部で計算した。</a:t>
            </a:r>
            <a:endParaRPr lang="en-US" sz="12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所感：「K ステップの FS ＝ K ビット量子化」と見なせる。SNN と量子化の境界をはっきり示した論文。</a:t>
            </a:r>
            <a:endParaRPr lang="en-US" sz="1200" dirty="0"/>
          </a:p>
        </p:txBody>
      </p:sp>
      <p:sp>
        <p:nvSpPr>
          <p:cNvPr id="10" name="Text 20"/>
          <p:cNvSpPr/>
          <p:nvPr>
            <p:ph idx="125" type="body" hasCustomPrompt="1"/>
          </p:nvPr>
        </p:nvSpPr>
        <p:spPr>
          <a:xfrm>
            <a:off x="455371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・Fast-SNN (2023)（本資料）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・Spora (2026)（本資料）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・Rueckauer+ 2017 ANN→SNN 変換（既存：training）</a:t>
            </a:r>
            <a:endParaRPr lang="en-US" sz="1200" dirty="0"/>
          </a:p>
        </p:txBody>
      </p:sp>
      <p:sp>
        <p:nvSpPr>
          <p:cNvPr id="11" name="Text 20"/>
          <p:cNvSpPr/>
          <p:nvPr>
            <p:ph idx="129" type="body" hasCustomPrompt="1"/>
          </p:nvPr>
        </p:nvSpPr>
        <p:spPr>
          <a:xfrm>
            <a:off x="8503920" y="4828032"/>
            <a:ext cx="3093415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発表：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Nature Machine Intelligence 2021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リンク：</a:t>
            </a:r>
            <a:pPr indent="0" marL="0">
              <a:lnSpc>
                <a:spcPts val="1350"/>
              </a:lnSpc>
              <a:buNone/>
            </a:pPr>
            <a:r>
              <a:rPr lang="en-US" sz="1000" u="sng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https://arxiv.org/abs/2002.00860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系譜：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発展（← バースト/位相符号 (Park+ 2019)）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調査日：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2026-10-23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確認範囲：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全文（問題提起・手法・実験・結果・考察）</a:t>
            </a:r>
            <a:endParaRPr lang="en-US" sz="1050" dirty="0"/>
          </a:p>
        </p:txBody>
      </p:sp>
      <p:sp>
        <p:nvSpPr>
          <p:cNvPr id="12" name="Text 20"/>
          <p:cNvSpPr/>
          <p:nvPr>
            <p:ph idx="130" type="body" hasCustomPrompt="1"/>
          </p:nvPr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Research Survey ｜ SNN（スパイキングニューラルネットワーク） › スパイク符号化と量子化の境界</a:t>
            </a:r>
            <a:endParaRPr lang="en-US" sz="1000" dirty="0"/>
          </a:p>
        </p:txBody>
      </p:sp>
      <p:pic>
        <p:nvPicPr>
          <p:cNvPr id="13" name="Image 0" descr="/tmp/claude-0/-home-user-researches/dc3d135a-4bab-5b84-bcb3-e0d06fe39570/scratchpad/stage/snn/spike-coding/figures/stockl2021_fig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40772"/>
            <a:ext cx="3367735" cy="1313417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8366760" y="3931920"/>
            <a:ext cx="3367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出典：FS ニューロン Fig. 2（ANN ニューロンを K ステップの FS ニューロンで模擬する）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0"/>
          <p:cNvSpPr/>
          <p:nvPr>
            <p:ph idx="126" type="body" hasCustomPrompt="1"/>
          </p:nvPr>
        </p:nvSpPr>
        <p:spPr>
          <a:xfrm>
            <a:off x="457200" y="274320"/>
            <a:ext cx="11277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SNN（スパイキングニューラルネットワーク） › スパイク符号化と量子化の境界 ｜ 系譜：発展</a:t>
            </a:r>
            <a:endParaRPr lang="en-US" sz="1100" dirty="0"/>
          </a:p>
        </p:txBody>
      </p:sp>
      <p:sp>
        <p:nvSpPr>
          <p:cNvPr id="3" name="Text 20"/>
          <p:cNvSpPr/>
          <p:nvPr>
            <p:ph idx="127" type="body" hasCustomPrompt="1"/>
          </p:nvPr>
        </p:nvSpPr>
        <p:spPr>
          <a:xfrm>
            <a:off x="457200" y="530352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2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Fast-SNN: Fast Spiking Neural Network by Converting Quantized ANN</a:t>
            </a:r>
            <a:endParaRPr lang="en-US" sz="2400" dirty="0"/>
          </a:p>
        </p:txBody>
      </p:sp>
      <p:sp>
        <p:nvSpPr>
          <p:cNvPr id="4" name="Text 20"/>
          <p:cNvSpPr/>
          <p:nvPr>
            <p:ph idx="128" type="body" hasCustomPrompt="1"/>
          </p:nvPr>
        </p:nvSpPr>
        <p:spPr>
          <a:xfrm>
            <a:off x="457200" y="1115568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Yangfan Hu, Qian Zheng, Xudong Jiang, Gang Pan（浙江大学）｜ IEEE TPAMI 2023</a:t>
            </a:r>
            <a:endParaRPr lang="en-US" sz="1200" dirty="0"/>
          </a:p>
        </p:txBody>
      </p:sp>
      <p:sp>
        <p:nvSpPr>
          <p:cNvPr id="5" name="Text 20"/>
          <p:cNvSpPr/>
          <p:nvPr>
            <p:ph idx="120" type="body" hasCustomPrompt="1"/>
          </p:nvPr>
        </p:nvSpPr>
        <p:spPr>
          <a:xfrm>
            <a:off x="62179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レート符号 IF ニューロンの発火率が一様量子化と等価であることを示し、低ビット量子化 ANN（QAT 済み）を 3〜15 ステップの SNN に変換した。ImageNet の VGG-16 で T=3 のとき 71.31%。物体検出と領域分割にも適用した。</a:t>
            </a:r>
            <a:endParaRPr lang="en-US" sz="1200" dirty="0"/>
          </a:p>
        </p:txBody>
      </p:sp>
      <p:sp>
        <p:nvSpPr>
          <p:cNvPr id="6" name="Text 20"/>
          <p:cNvSpPr/>
          <p:nvPr>
            <p:ph idx="121" type="body" hasCustomPrompt="1"/>
          </p:nvPr>
        </p:nvSpPr>
        <p:spPr>
          <a:xfrm>
            <a:off x="455371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従来の変換（正規化・較正・PTL）は統計的に決めたクリップ範囲を使うため量子化誤差が残り、数百〜数千ステップを要した。本手法はクリップ範囲も分布も QAT で最適化し、残る誤差を「順序誤差」だけに切り分けた。</a:t>
            </a:r>
            <a:endParaRPr lang="en-US" sz="1200" dirty="0"/>
          </a:p>
        </p:txBody>
      </p:sp>
      <p:sp>
        <p:nvSpPr>
          <p:cNvPr id="7" name="Text 20"/>
          <p:cNvSpPr/>
          <p:nvPr>
            <p:ph idx="122" type="body" hasCustomPrompt="1"/>
          </p:nvPr>
        </p:nvSpPr>
        <p:spPr>
          <a:xfrm>
            <a:off x="62179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 ビット量子化 Q=s/(2^b−1)·clip(round(·)) と、初期膜電位 θ/2 の IF の発火率 N/T が T=2^b−1 で一致する（Eq. 10）。全入力を待てば遅延 T×L で無損失。待たない場合の誤発火は、負スパイク付き IF と層別微調整で打ち消す。</a:t>
            </a:r>
            <a:endParaRPr lang="en-US" sz="1200" dirty="0"/>
          </a:p>
        </p:txBody>
      </p:sp>
      <p:sp>
        <p:nvSpPr>
          <p:cNvPr id="8" name="Text 20"/>
          <p:cNvSpPr/>
          <p:nvPr>
            <p:ph idx="123" type="body" hasCustomPrompt="1"/>
          </p:nvPr>
        </p:nvSpPr>
        <p:spPr>
          <a:xfrm>
            <a:off x="455371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CIFAR-10：VGG-11 2bit・T=3 で 92.99%（ANN 93.06%）。ImageNet：VGG-16 で T=7 は 72.95%、T=3 は 71.31%（ANN 71.91%）（Table 5）。VOC07 検出 mAP 73.43%（T=7）、VOC12 分割 mIoU 69.7%（T=15）。</a:t>
            </a:r>
            <a:endParaRPr lang="en-US" sz="1200" dirty="0"/>
          </a:p>
        </p:txBody>
      </p:sp>
      <p:sp>
        <p:nvSpPr>
          <p:cNvPr id="9" name="Text 20"/>
          <p:cNvSpPr/>
          <p:nvPr>
            <p:ph idx="124" type="body" hasCustomPrompt="1"/>
          </p:nvPr>
        </p:nvSpPr>
        <p:spPr>
          <a:xfrm>
            <a:off x="62179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著者：T=3 なら演算数は ANN の約 1/10。待機しない方式は T×L より L 倍速いが、休止中の電力は残る。</a:t>
            </a:r>
            <a:endParaRPr lang="en-US" sz="12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所感：ビット幅 b に対しステップ数が 2^b−1 と指数的に増える。これがレート符号の本質的な限界を示している。</a:t>
            </a:r>
            <a:endParaRPr lang="en-US" sz="1200" dirty="0"/>
          </a:p>
        </p:txBody>
      </p:sp>
      <p:sp>
        <p:nvSpPr>
          <p:cNvPr id="10" name="Text 20"/>
          <p:cNvSpPr/>
          <p:nvPr>
            <p:ph idx="125" type="body" hasCustomPrompt="1"/>
          </p:nvPr>
        </p:nvSpPr>
        <p:spPr>
          <a:xfrm>
            <a:off x="455371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・QCFS (Bu+ 2022)（既存：training）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・SpikeYOLO / I-LIF (2024)（本資料）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・QNN-SNN 双子のエネルギー比較 (Yan+ 2024)（本資料）</a:t>
            </a:r>
            <a:endParaRPr lang="en-US" sz="1200" dirty="0"/>
          </a:p>
        </p:txBody>
      </p:sp>
      <p:sp>
        <p:nvSpPr>
          <p:cNvPr id="11" name="Text 20"/>
          <p:cNvSpPr/>
          <p:nvPr>
            <p:ph idx="129" type="body" hasCustomPrompt="1"/>
          </p:nvPr>
        </p:nvSpPr>
        <p:spPr>
          <a:xfrm>
            <a:off x="8503920" y="4828032"/>
            <a:ext cx="3093415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発表：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IEEE TPAMI 2023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リンク：</a:t>
            </a:r>
            <a:pPr indent="0" marL="0">
              <a:lnSpc>
                <a:spcPts val="1350"/>
              </a:lnSpc>
              <a:buNone/>
            </a:pPr>
            <a:r>
              <a:rPr lang="en-US" sz="1000" u="sng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https://arxiv.org/abs/2305.19868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系譜：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発展（← ANN→SNN変換 (Rueckauer+ 2017)）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調査日：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2026-10-23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確認範囲：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全文（問題提起・手法・実験・結果・考察）</a:t>
            </a:r>
            <a:endParaRPr lang="en-US" sz="1050" dirty="0"/>
          </a:p>
        </p:txBody>
      </p:sp>
      <p:sp>
        <p:nvSpPr>
          <p:cNvPr id="12" name="Text 20"/>
          <p:cNvSpPr/>
          <p:nvPr>
            <p:ph idx="130" type="body" hasCustomPrompt="1"/>
          </p:nvPr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Research Survey ｜ SNN（スパイキングニューラルネットワーク） › スパイク符号化と量子化の境界</a:t>
            </a:r>
            <a:endParaRPr lang="en-US" sz="1000" dirty="0"/>
          </a:p>
        </p:txBody>
      </p:sp>
      <p:pic>
        <p:nvPicPr>
          <p:cNvPr id="13" name="Image 0" descr="/tmp/claude-0/-home-user-researches/dc3d135a-4bab-5b84-bcb3-e0d06fe39570/scratchpad/stage/snn/spike-coding/figures/fastsnn2023_fig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1679327"/>
            <a:ext cx="3367735" cy="2036305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8366760" y="3931920"/>
            <a:ext cx="3367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出典：Fast-SNN Fig. 2（2bit 量子化値と T=3 の IF 発火率の対応）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0"/>
          <p:cNvSpPr/>
          <p:nvPr>
            <p:ph idx="126" type="body" hasCustomPrompt="1"/>
          </p:nvPr>
        </p:nvSpPr>
        <p:spPr>
          <a:xfrm>
            <a:off x="457200" y="274320"/>
            <a:ext cx="11277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SNN（スパイキングニューラルネットワーク） › スパイク符号化と量子化の境界 ｜ 系譜：発展</a:t>
            </a:r>
            <a:endParaRPr lang="en-US" sz="1100" dirty="0"/>
          </a:p>
        </p:txBody>
      </p:sp>
      <p:sp>
        <p:nvSpPr>
          <p:cNvPr id="3" name="Text 20"/>
          <p:cNvSpPr/>
          <p:nvPr>
            <p:ph idx="127" type="body" hasCustomPrompt="1"/>
          </p:nvPr>
        </p:nvSpPr>
        <p:spPr>
          <a:xfrm>
            <a:off x="457200" y="530352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50"/>
              </a:lnSpc>
              <a:buNone/>
            </a:pPr>
            <a:r>
              <a:rPr lang="en-US" sz="18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High-performance deep spiking neural networks with 0.3 spikes per neuron</a:t>
            </a:r>
            <a:endParaRPr lang="en-US" sz="2400" dirty="0"/>
          </a:p>
        </p:txBody>
      </p:sp>
      <p:sp>
        <p:nvSpPr>
          <p:cNvPr id="4" name="Text 20"/>
          <p:cNvSpPr/>
          <p:nvPr>
            <p:ph idx="128" type="body" hasCustomPrompt="1"/>
          </p:nvPr>
        </p:nvSpPr>
        <p:spPr>
          <a:xfrm>
            <a:off x="457200" y="1115568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Ana Stanojevic, Stanisław Woźniak, Guillaume Bellec ほか（IBM Research Zurich / EPFL）｜ Nature Communications 2024</a:t>
            </a:r>
            <a:endParaRPr lang="en-US" sz="1200" dirty="0"/>
          </a:p>
        </p:txBody>
      </p:sp>
      <p:sp>
        <p:nvSpPr>
          <p:cNvPr id="5" name="Text 20"/>
          <p:cNvSpPr/>
          <p:nvPr>
            <p:ph idx="120" type="body" hasCustomPrompt="1"/>
          </p:nvPr>
        </p:nvSpPr>
        <p:spPr>
          <a:xfrm>
            <a:off x="62179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TTFS（1 ニューロン高々 1 スパイク）の深層 SNN を、ReLU ネットと全く同じ精度で学習できることを示した。閾値交差時の膜電位の傾きを 1 に固定する「恒等写像（B1 モデル）」により、学習の軌道まで ReLU と一致する。0.3 スパイク/ニューロン未満で動く。</a:t>
            </a:r>
            <a:endParaRPr lang="en-US" sz="1200" dirty="0"/>
          </a:p>
        </p:txBody>
      </p:sp>
      <p:sp>
        <p:nvSpPr>
          <p:cNvPr id="6" name="Text 20"/>
          <p:cNvSpPr/>
          <p:nvPr>
            <p:ph idx="121" type="body" hasCustomPrompt="1"/>
          </p:nvPr>
        </p:nvSpPr>
        <p:spPr>
          <a:xfrm>
            <a:off x="455371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ReLU→TTFS の厳密写像は Rueckauer &amp; Liu 2018、Stanojevic+ 2023 で知られていたが、厳密勾配での学習は 6 層程度が限界だった。その原因を TTFS 特有の勾配消失/爆発と特定し、写像の選び方で解決した。</a:t>
            </a:r>
            <a:endParaRPr lang="en-US" sz="1200" dirty="0"/>
          </a:p>
        </p:txBody>
      </p:sp>
      <p:sp>
        <p:nvSpPr>
          <p:cNvPr id="7" name="Text 20"/>
          <p:cNvSpPr/>
          <p:nvPr>
            <p:ph idx="122" type="body" hasCustomPrompt="1"/>
          </p:nvPr>
        </p:nvSpPr>
        <p:spPr>
          <a:xfrm>
            <a:off x="62179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時刻 t_min 以降、膜電位は傾き B で上昇する。逆写像 w=W/B、x=(t_max−t)/τ_c で等価な ReLU ネットが一意に定まる。ヤコビアンは M·W/B なので、B=1 なら W=w となり、SNN の勾配更新が ReLU の更新と一致する（α1 モデルは非線形でずれる）。</a:t>
            </a:r>
            <a:endParaRPr lang="en-US" sz="1200" dirty="0"/>
          </a:p>
        </p:txBody>
      </p:sp>
      <p:sp>
        <p:nvSpPr>
          <p:cNvPr id="8" name="Text 20"/>
          <p:cNvSpPr/>
          <p:nvPr>
            <p:ph idx="123" type="body" hasCustomPrompt="1"/>
          </p:nvPr>
        </p:nvSpPr>
        <p:spPr>
          <a:xfrm>
            <a:off x="455371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MNIST/Fashion-MNIST で ReLU と同精度（VGG16 99.57%）。VGG16 の変換＋微調整で CIFAR10 93.69%、CIFAR100 72.24%、PLACES365 53.86%。L1 正則化で 0.20〜0.27 スパイク/ニューロン（Table 2）。4bit 重みや 16 ステップでも 90% 超（Fig. 5）。</a:t>
            </a:r>
            <a:endParaRPr lang="en-US" sz="1200" dirty="0"/>
          </a:p>
        </p:txBody>
      </p:sp>
      <p:sp>
        <p:nvSpPr>
          <p:cNvPr id="9" name="Text 20"/>
          <p:cNvSpPr/>
          <p:nvPr>
            <p:ph idx="124" type="body" hasCustomPrompt="1"/>
          </p:nvPr>
        </p:nvSpPr>
        <p:spPr>
          <a:xfrm>
            <a:off x="62179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著者：各層が前層の時間窓の終了を待つ同期性が必要。ResNet の残差接続と動画は今後の課題。</a:t>
            </a: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所感：TTFS は ReLU 活性を連続時刻に符号化したものとも言え、結局は時間分解能（ステップ数）とのトレードオフに帰着する。</a:t>
            </a:r>
            <a:endParaRPr lang="en-US" sz="1200" dirty="0"/>
          </a:p>
        </p:txBody>
      </p:sp>
      <p:sp>
        <p:nvSpPr>
          <p:cNvPr id="10" name="Text 20"/>
          <p:cNvSpPr/>
          <p:nvPr>
            <p:ph idx="125" type="body" hasCustomPrompt="1"/>
          </p:nvPr>
        </p:nvSpPr>
        <p:spPr>
          <a:xfrm>
            <a:off x="455371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・An Exact Mapping From ReLU Networks to SNNs (2023)（未調査）</a:t>
            </a: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・TTFS-LLM (Zhao+ 2026)（本資料）</a:t>
            </a: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・TTFS 多面体幾何 (Singh+ 2026)（本資料）</a:t>
            </a:r>
            <a:endParaRPr lang="en-US" sz="1200" dirty="0"/>
          </a:p>
        </p:txBody>
      </p:sp>
      <p:sp>
        <p:nvSpPr>
          <p:cNvPr id="11" name="Text 20"/>
          <p:cNvSpPr/>
          <p:nvPr>
            <p:ph idx="129" type="body" hasCustomPrompt="1"/>
          </p:nvPr>
        </p:nvSpPr>
        <p:spPr>
          <a:xfrm>
            <a:off x="8503920" y="4828032"/>
            <a:ext cx="3093415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発表：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Nature Communications 2024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リンク：</a:t>
            </a:r>
            <a:pPr indent="0" marL="0">
              <a:lnSpc>
                <a:spcPts val="1350"/>
              </a:lnSpc>
              <a:buNone/>
            </a:pPr>
            <a:r>
              <a:rPr lang="en-US" sz="1000" u="sng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https://arxiv.org/abs/2306.08744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系譜：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発展（← TTFS 直接学習 (Mostafa 2017)）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調査日：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2026-10-23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確認範囲：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全文（問題提起・手法・実験・結果・考察）</a:t>
            </a:r>
            <a:endParaRPr lang="en-US" sz="1050" dirty="0"/>
          </a:p>
        </p:txBody>
      </p:sp>
      <p:sp>
        <p:nvSpPr>
          <p:cNvPr id="12" name="Text 20"/>
          <p:cNvSpPr/>
          <p:nvPr>
            <p:ph idx="130" type="body" hasCustomPrompt="1"/>
          </p:nvPr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Research Survey ｜ SNN（スパイキングニューラルネットワーク） › スパイク符号化と量子化の境界</a:t>
            </a:r>
            <a:endParaRPr lang="en-US" sz="1000" dirty="0"/>
          </a:p>
        </p:txBody>
      </p:sp>
      <p:pic>
        <p:nvPicPr>
          <p:cNvPr id="13" name="Image 0" descr="/tmp/claude-0/-home-user-researches/dc3d135a-4bab-5b84-bcb3-e0d06fe39570/scratchpad/stage/snn/spike-coding/figures/stanojevic2024_fig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1832888"/>
            <a:ext cx="3367735" cy="1729184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8366760" y="3931920"/>
            <a:ext cx="3367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出典：Stanojevic+ 2024 Fig. 1（TTFS ネットワークと膜電位の 2 つの区間）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0"/>
          <p:cNvSpPr/>
          <p:nvPr>
            <p:ph idx="126" type="body" hasCustomPrompt="1"/>
          </p:nvPr>
        </p:nvSpPr>
        <p:spPr>
          <a:xfrm>
            <a:off x="457200" y="274320"/>
            <a:ext cx="11277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SNN（スパイキングニューラルネットワーク） › スパイク符号化と量子化の境界 ｜ 系譜：発展</a:t>
            </a:r>
            <a:endParaRPr lang="en-US" sz="1100" dirty="0"/>
          </a:p>
        </p:txBody>
      </p:sp>
      <p:sp>
        <p:nvSpPr>
          <p:cNvPr id="3" name="Text 20"/>
          <p:cNvSpPr/>
          <p:nvPr>
            <p:ph idx="127" type="body" hasCustomPrompt="1"/>
          </p:nvPr>
        </p:nvSpPr>
        <p:spPr>
          <a:xfrm>
            <a:off x="457200" y="530352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50"/>
              </a:lnSpc>
              <a:buNone/>
            </a:pPr>
            <a:r>
              <a:rPr lang="en-US" sz="16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Integer-Valued Training and Spike-Driven Inference Spiking Neural Network for High-performance and Energy-efficient Object Detection</a:t>
            </a:r>
            <a:endParaRPr lang="en-US" sz="2400" dirty="0"/>
          </a:p>
        </p:txBody>
      </p:sp>
      <p:sp>
        <p:nvSpPr>
          <p:cNvPr id="4" name="Text 20"/>
          <p:cNvSpPr/>
          <p:nvPr>
            <p:ph idx="128" type="body" hasCustomPrompt="1"/>
          </p:nvPr>
        </p:nvSpPr>
        <p:spPr>
          <a:xfrm>
            <a:off x="457200" y="1115568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Xinhao Luo, Man Yao, Yuhong Chou ほか（中国科学院自動化研究所）｜ ECCV 2024</a:t>
            </a:r>
            <a:endParaRPr lang="en-US" sz="1200" dirty="0"/>
          </a:p>
        </p:txBody>
      </p:sp>
      <p:sp>
        <p:nvSpPr>
          <p:cNvPr id="5" name="Text 20"/>
          <p:cNvSpPr/>
          <p:nvPr>
            <p:ph idx="120" type="body" hasCustomPrompt="1"/>
          </p:nvPr>
        </p:nvSpPr>
        <p:spPr>
          <a:xfrm>
            <a:off x="62179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学習時は 0〜D の整数を出力し、推論時はそれを D 個の仮想ステップの 2 値スパイクに展開する I-LIF ニューロンを提案した（整数で学習しスパイクで推論）。SpikeYOLO で COCO mAP@50 66.2% と、SNN の検出性能を大きく伸ばした。</a:t>
            </a:r>
            <a:endParaRPr lang="en-US" sz="1200" dirty="0"/>
          </a:p>
        </p:txBody>
      </p:sp>
      <p:sp>
        <p:nvSpPr>
          <p:cNvPr id="6" name="Text 20"/>
          <p:cNvSpPr/>
          <p:nvPr>
            <p:ph idx="121" type="body" hasCustomPrompt="1"/>
          </p:nvPr>
        </p:nvSpPr>
        <p:spPr>
          <a:xfrm>
            <a:off x="455371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 値スパイクは膜電位の量子化誤差が大きく、検出のような回帰タスクで特に効く。注意機構や情報最大化など直接学習の工夫は誤差を減らすだけで、ANN2SNN は長いステップを要する。Fast-SNN に触発され、整数で直接学習した。</a:t>
            </a:r>
            <a:endParaRPr lang="en-US" sz="1200" dirty="0"/>
          </a:p>
        </p:txBody>
      </p:sp>
      <p:sp>
        <p:nvSpPr>
          <p:cNvPr id="7" name="Text 20"/>
          <p:cNvSpPr/>
          <p:nvPr>
            <p:ph idx="122" type="body" hasCustomPrompt="1"/>
          </p:nvPr>
        </p:nvSpPr>
        <p:spPr>
          <a:xfrm>
            <a:off x="62179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S[t]=clip(round(U[t]),0,D) とし、勾配は [0,D] の矩形窓で通す。推論時は Σ_d S[t,d]=S[t] となるように展開し、行列積の線形性 W·ΣS=Σ(W·S) によって MAC を疎な AC に置き換える（Eq. 12–15）。</a:t>
            </a:r>
            <a:endParaRPr lang="en-US" sz="1200" dirty="0"/>
          </a:p>
        </p:txBody>
      </p:sp>
      <p:sp>
        <p:nvSpPr>
          <p:cNvPr id="8" name="Text 20"/>
          <p:cNvSpPr/>
          <p:nvPr>
            <p:ph idx="123" type="body" hasCustomPrompt="1"/>
          </p:nvPr>
        </p:nvSpPr>
        <p:spPr>
          <a:xfrm>
            <a:off x="455371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COCO（23.1M）：T×D=1×1 は 52.7%、1×4 は 62.3%（+9.6）、4×1 は 55.7%（Table 1）。電力増は 1×4 が +88%、4×1 が +267%。Gen1：4×2 で mAP@50 67.2%、同じ構造の ANN より +2.5% で 5.7 倍省エネ（Table 3, 4）。</a:t>
            </a:r>
            <a:endParaRPr lang="en-US" sz="1200" dirty="0"/>
          </a:p>
        </p:txBody>
      </p:sp>
      <p:sp>
        <p:nvSpPr>
          <p:cNvPr id="9" name="Text 20"/>
          <p:cNvSpPr/>
          <p:nvPr>
            <p:ph idx="124" type="body" hasCustomPrompt="1"/>
          </p:nvPr>
        </p:nvSpPr>
        <p:spPr>
          <a:xfrm>
            <a:off x="62179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著者：量子化誤差の影響は T より大きく、D を増やす方が費用対効果が高い。Gen1 では D を増やすと電力がむしろ減った。</a:t>
            </a:r>
            <a:endParaRPr lang="en-US" sz="12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所感：D は事実上の活性ビット数（量子化 ANN）にあたる。推論時の等価性は、後段が線形層の場合にしか保証されない。</a:t>
            </a:r>
            <a:endParaRPr lang="en-US" sz="1200" dirty="0"/>
          </a:p>
        </p:txBody>
      </p:sp>
      <p:sp>
        <p:nvSpPr>
          <p:cNvPr id="10" name="Text 20"/>
          <p:cNvSpPr/>
          <p:nvPr>
            <p:ph idx="125" type="body" hasCustomPrompt="1"/>
          </p:nvPr>
        </p:nvSpPr>
        <p:spPr>
          <a:xfrm>
            <a:off x="455371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・E-SpikeFormer / SFA (2024)（既存：spiking-transformer）</a:t>
            </a: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・PT-SSA (2026)（本資料）</a:t>
            </a: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・SpikingBrain (2025)（既存：spiking-transformer）</a:t>
            </a:r>
            <a:endParaRPr lang="en-US" sz="1200" dirty="0"/>
          </a:p>
        </p:txBody>
      </p:sp>
      <p:sp>
        <p:nvSpPr>
          <p:cNvPr id="11" name="Text 20"/>
          <p:cNvSpPr/>
          <p:nvPr>
            <p:ph idx="129" type="body" hasCustomPrompt="1"/>
          </p:nvPr>
        </p:nvSpPr>
        <p:spPr>
          <a:xfrm>
            <a:off x="8503920" y="4828032"/>
            <a:ext cx="3093415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発表：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ECCV 2024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リンク：</a:t>
            </a:r>
            <a:pPr indent="0" marL="0">
              <a:lnSpc>
                <a:spcPts val="1400"/>
              </a:lnSpc>
              <a:buNone/>
            </a:pPr>
            <a:r>
              <a:rPr lang="en-US" sz="1050" u="sng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https://arxiv.org/abs/2407.20708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系譜：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発展（← Fast-SNN (Hu+ 2023)）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調査日：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2026-10-23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確認範囲：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全文（問題提起・手法・実験・結果・考察）</a:t>
            </a:r>
            <a:endParaRPr lang="en-US" sz="1050" dirty="0"/>
          </a:p>
        </p:txBody>
      </p:sp>
      <p:sp>
        <p:nvSpPr>
          <p:cNvPr id="12" name="Text 20"/>
          <p:cNvSpPr/>
          <p:nvPr>
            <p:ph idx="130" type="body" hasCustomPrompt="1"/>
          </p:nvPr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Research Survey ｜ SNN（スパイキングニューラルネットワーク） › スパイク符号化と量子化の境界</a:t>
            </a:r>
            <a:endParaRPr lang="en-US" sz="1000" dirty="0"/>
          </a:p>
        </p:txBody>
      </p:sp>
      <p:pic>
        <p:nvPicPr>
          <p:cNvPr id="13" name="Image 0" descr="/tmp/claude-0/-home-user-researches/dc3d135a-4bab-5b84-bcb3-e0d06fe39570/scratchpad/stage/snn/spike-coding/figures/spikeyolo2024_fig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1729013"/>
            <a:ext cx="3367735" cy="1936934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8366760" y="3931920"/>
            <a:ext cx="3367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出典：SpikeYOLO Fig. 2（LIF と I-LIF の比較：整数学習とスパイク推論）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0"/>
          <p:cNvSpPr/>
          <p:nvPr>
            <p:ph idx="126" type="body" hasCustomPrompt="1"/>
          </p:nvPr>
        </p:nvSpPr>
        <p:spPr>
          <a:xfrm>
            <a:off x="457200" y="274320"/>
            <a:ext cx="11277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SNN（スパイキングニューラルネットワーク） › スパイク符号化と量子化の境界 ｜ 系譜：発展</a:t>
            </a:r>
            <a:endParaRPr lang="en-US" sz="1100" dirty="0"/>
          </a:p>
        </p:txBody>
      </p:sp>
      <p:sp>
        <p:nvSpPr>
          <p:cNvPr id="3" name="Text 20"/>
          <p:cNvSpPr/>
          <p:nvPr>
            <p:ph idx="127" type="body" hasCustomPrompt="1"/>
          </p:nvPr>
        </p:nvSpPr>
        <p:spPr>
          <a:xfrm>
            <a:off x="457200" y="530352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50"/>
              </a:lnSpc>
              <a:buNone/>
            </a:pPr>
            <a:r>
              <a:rPr lang="en-US" sz="16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Reconsidering the Energy Efficiency of Spiking Neural Networks Inference from Analytical Perspectives</a:t>
            </a:r>
            <a:endParaRPr lang="en-US" sz="2400" dirty="0"/>
          </a:p>
        </p:txBody>
      </p:sp>
      <p:sp>
        <p:nvSpPr>
          <p:cNvPr id="4" name="Text 20"/>
          <p:cNvSpPr/>
          <p:nvPr>
            <p:ph idx="128" type="body" hasCustomPrompt="1"/>
          </p:nvPr>
        </p:nvSpPr>
        <p:spPr>
          <a:xfrm>
            <a:off x="457200" y="1115568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Zhanglu Yan, Zhenyu Bai, Kaiwen Tang, Weng-Fai Wong（シンガポール国立大学）｜ IEEE TCAD 2026</a:t>
            </a:r>
            <a:endParaRPr lang="en-US" sz="1200" dirty="0"/>
          </a:p>
        </p:txBody>
      </p:sp>
      <p:sp>
        <p:nvSpPr>
          <p:cNvPr id="5" name="Text 20"/>
          <p:cNvSpPr/>
          <p:nvPr>
            <p:ph idx="120" type="body" hasCustomPrompt="1"/>
          </p:nvPr>
        </p:nvSpPr>
        <p:spPr>
          <a:xfrm>
            <a:off x="62179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 ステップのレート符号 SNN と ⌈log2(T+1)⌉ ビット活性の量子化 ANN（QNN）を、表現力の等しい「双子」として対応付けた。データ移動まで含む解析的エネルギーモデルで比べ、SNN が有利なのは T≤5・スパイク率 5.7% 未満程度に限られると示した。</a:t>
            </a:r>
            <a:endParaRPr lang="en-US" sz="1200" dirty="0"/>
          </a:p>
        </p:txBody>
      </p:sp>
      <p:sp>
        <p:nvSpPr>
          <p:cNvPr id="6" name="Text 20"/>
          <p:cNvSpPr/>
          <p:nvPr>
            <p:ph idx="121" type="body" hasCustomPrompt="1"/>
          </p:nvPr>
        </p:nvSpPr>
        <p:spPr>
          <a:xfrm>
            <a:off x="455371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従来の省エネ主張の多くは MAC と AC の演算数比較で、重み・膜電位・スパイクのメモリアクセスや NoC 転送を無視していた。比較相手も全精度 ANN が多い。本研究は表現容量をそろえた QNN を、同じハード写像で比べる。</a:t>
            </a:r>
            <a:endParaRPr lang="en-US" sz="1200" dirty="0"/>
          </a:p>
        </p:txBody>
      </p:sp>
      <p:sp>
        <p:nvSpPr>
          <p:cNvPr id="7" name="Text 20"/>
          <p:cNvSpPr/>
          <p:nvPr>
            <p:ph idx="122" type="body" hasCustomPrompt="1"/>
          </p:nvPr>
        </p:nvSpPr>
        <p:spPr>
          <a:xfrm>
            <a:off x="62179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Theorem 1：非リーク・減算リセット IF の T ステップ出力は、⌈log2(T+1)⌉ ビットの QNN で厳密に表せる。SNN は 1 ビットを T·s_r 回動かし、QNN は多ビットを 1 回動かす。E=E_compute+E_data を T、s_r、疎性、重みビット、移動コストで掃引した。</a:t>
            </a:r>
            <a:endParaRPr lang="en-US" sz="1200" dirty="0"/>
          </a:p>
        </p:txBody>
      </p:sp>
      <p:sp>
        <p:nvSpPr>
          <p:cNvPr id="8" name="Text 20"/>
          <p:cNvSpPr/>
          <p:nvPr>
            <p:ph idx="123" type="body" hasCustomPrompt="1"/>
          </p:nvPr>
        </p:nvSpPr>
        <p:spPr>
          <a:xfrm>
            <a:off x="455371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典型的なニューロモルフィック設定では、T=5 の損益分岐が s_r≈5.7%（Fig. 3, 5）。VGG16 CIFAR10 は T=3 で 0.987 倍だが T=7 で 2.24 倍、ImageNet RepVGG（T=10）は 2.23 倍（Table II, III）。SST-2 は T=15 で 3.76 倍。</a:t>
            </a:r>
            <a:endParaRPr lang="en-US" sz="1200" dirty="0"/>
          </a:p>
        </p:txBody>
      </p:sp>
      <p:sp>
        <p:nvSpPr>
          <p:cNvPr id="9" name="Text 20"/>
          <p:cNvSpPr/>
          <p:nvPr>
            <p:ph idx="124" type="body" hasCustomPrompt="1"/>
          </p:nvPr>
        </p:nvSpPr>
        <p:spPr>
          <a:xfrm>
            <a:off x="62179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著者：制御コストを含めないので SNN 寄りの評価になる。ニューロン単位の集約は一次近似。</a:t>
            </a: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所感：「スパイクは 1 ビットだから省エネ」という前提を崩した重要な基準。時間符号（TTFS）でスパイク数を減らす動機にもなる。</a:t>
            </a:r>
            <a:endParaRPr lang="en-US" sz="1200" dirty="0"/>
          </a:p>
        </p:txBody>
      </p:sp>
      <p:sp>
        <p:nvSpPr>
          <p:cNvPr id="10" name="Text 20"/>
          <p:cNvSpPr/>
          <p:nvPr>
            <p:ph idx="125" type="body" hasCustomPrompt="1"/>
          </p:nvPr>
        </p:nvSpPr>
        <p:spPr>
          <a:xfrm>
            <a:off x="455371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・Dampfhoffer+ 2022 Are SNNs really more energy-efficient?（未調査）</a:t>
            </a:r>
            <a:endParaRPr lang="en-US" sz="12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・Latency and accuracy tradeoffs in SNNs (2026)（参照のみ）</a:t>
            </a:r>
            <a:endParaRPr lang="en-US" sz="12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・Floorline (2025)（既存：neuromorphic-hardware）</a:t>
            </a:r>
            <a:endParaRPr lang="en-US" sz="1200" dirty="0"/>
          </a:p>
        </p:txBody>
      </p:sp>
      <p:sp>
        <p:nvSpPr>
          <p:cNvPr id="11" name="Text 20"/>
          <p:cNvSpPr/>
          <p:nvPr>
            <p:ph idx="129" type="body" hasCustomPrompt="1"/>
          </p:nvPr>
        </p:nvSpPr>
        <p:spPr>
          <a:xfrm>
            <a:off x="8503920" y="4828032"/>
            <a:ext cx="3093415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発表：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IEEE TCAD 2026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リンク：</a:t>
            </a:r>
            <a:pPr indent="0" marL="0">
              <a:lnSpc>
                <a:spcPts val="1400"/>
              </a:lnSpc>
              <a:buNone/>
            </a:pPr>
            <a:r>
              <a:rPr lang="en-US" sz="1050" u="sng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https://arxiv.org/abs/2409.08290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系譜：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発展（← Fast-SNN (Hu+ 2023)）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調査日：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2026-10-23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確認範囲：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全文（問題提起・手法・実験・結果・考察）</a:t>
            </a:r>
            <a:endParaRPr lang="en-US" sz="1050" dirty="0"/>
          </a:p>
        </p:txBody>
      </p:sp>
      <p:sp>
        <p:nvSpPr>
          <p:cNvPr id="12" name="Text 20"/>
          <p:cNvSpPr/>
          <p:nvPr>
            <p:ph idx="130" type="body" hasCustomPrompt="1"/>
          </p:nvPr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Research Survey ｜ SNN（スパイキングニューラルネットワーク） › スパイク符号化と量子化の境界</a:t>
            </a:r>
            <a:endParaRPr lang="en-US" sz="1000" dirty="0"/>
          </a:p>
        </p:txBody>
      </p:sp>
      <p:pic>
        <p:nvPicPr>
          <p:cNvPr id="13" name="Image 0" descr="/tmp/claude-0/-home-user-researches/dc3d135a-4bab-5b84-bcb3-e0d06fe39570/scratchpad/stage/snn/spike-coding/figures/yan2024_fig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2550" y="1508760"/>
            <a:ext cx="3016155" cy="237744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8366760" y="3931920"/>
            <a:ext cx="3367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出典：Yan+ Fig. 3（SNN/QNN エネルギー比：SNN の設定 × ハードウェアの設定）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0"/>
          <p:cNvSpPr/>
          <p:nvPr>
            <p:ph idx="126" type="body" hasCustomPrompt="1"/>
          </p:nvPr>
        </p:nvSpPr>
        <p:spPr>
          <a:xfrm>
            <a:off x="457200" y="274320"/>
            <a:ext cx="11277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SNN（スパイキングニューラルネットワーク） › スパイク符号化と量子化の境界 ｜ 系譜：最新</a:t>
            </a:r>
            <a:endParaRPr lang="en-US" sz="1100" dirty="0"/>
          </a:p>
        </p:txBody>
      </p:sp>
      <p:sp>
        <p:nvSpPr>
          <p:cNvPr id="3" name="Text 20"/>
          <p:cNvSpPr/>
          <p:nvPr>
            <p:ph idx="127" type="body" hasCustomPrompt="1"/>
          </p:nvPr>
        </p:nvSpPr>
        <p:spPr>
          <a:xfrm>
            <a:off x="457200" y="530352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50"/>
              </a:lnSpc>
              <a:buNone/>
            </a:pPr>
            <a:r>
              <a:rPr lang="en-US" sz="24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Large Language Models with At Most One Spike per Neuron</a:t>
            </a:r>
            <a:endParaRPr lang="en-US" sz="2400" dirty="0"/>
          </a:p>
        </p:txBody>
      </p:sp>
      <p:sp>
        <p:nvSpPr>
          <p:cNvPr id="4" name="Text 20"/>
          <p:cNvSpPr/>
          <p:nvPr>
            <p:ph idx="128" type="body" hasCustomPrompt="1"/>
          </p:nvPr>
        </p:nvSpPr>
        <p:spPr>
          <a:xfrm>
            <a:off x="457200" y="1115568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Zhuoya Zhao, Parsa Omidi, Aref Jafari, Richard Naud（オタワ大学 / Huawei）｜ arXiv プレプリント 2026</a:t>
            </a:r>
            <a:endParaRPr lang="en-US" sz="1200" dirty="0"/>
          </a:p>
        </p:txBody>
      </p:sp>
      <p:sp>
        <p:nvSpPr>
          <p:cNvPr id="5" name="Text 20"/>
          <p:cNvSpPr/>
          <p:nvPr>
            <p:ph idx="120" type="body" hasCustomPrompt="1"/>
          </p:nvPr>
        </p:nvSpPr>
        <p:spPr>
          <a:xfrm>
            <a:off x="62179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各ニューロンが最大 1 スパイクの TTFS 符号で、埋め込み・LayerNorm・注意・dropout まで含む LLM を構成し、事前学習から end-to-end で学習した。TTFS で初めて 1.5B（GPT-2 XL）まで拡大し、GLUE ではベースラインに迫った。</a:t>
            </a:r>
            <a:endParaRPr lang="en-US" sz="1200" dirty="0"/>
          </a:p>
        </p:txBody>
      </p:sp>
      <p:sp>
        <p:nvSpPr>
          <p:cNvPr id="6" name="Text 20"/>
          <p:cNvSpPr/>
          <p:nvPr>
            <p:ph idx="121" type="body" hasCustomPrompt="1"/>
          </p:nvPr>
        </p:nvSpPr>
        <p:spPr>
          <a:xfrm>
            <a:off x="455371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既存の TTFS 写像（Stanojevic+ 2024）は非負出力の ReLU-MLP に限られ、LayerNorm や行列積を表せない。変換型の TTFSFormer や STA には近似誤差や対数演算が残る。スパイキング LLM の多くはレート符号で複数のスパイクを使う。</a:t>
            </a:r>
            <a:endParaRPr lang="en-US" sz="1200" dirty="0"/>
          </a:p>
        </p:txBody>
      </p:sp>
      <p:sp>
        <p:nvSpPr>
          <p:cNvPr id="7" name="Text 20"/>
          <p:cNvSpPr/>
          <p:nvPr>
            <p:ph idx="122" type="body" hasCustomPrompt="1"/>
          </p:nvPr>
        </p:nvSpPr>
        <p:spPr>
          <a:xfrm>
            <a:off x="62179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時間窓の中点を参照時刻 t_ref とし、t_ref−t で符号付きの値を表す R-TTFS（線形域で shift-ReLU と厳密に等価）。平均・差・二乗・分散は固定重みの TTFS 層、1/√x は 2 層の TTFS で近似。QK は Q を膜電位、K を時刻として積分で計算する。</a:t>
            </a:r>
            <a:endParaRPr lang="en-US" sz="1200" dirty="0"/>
          </a:p>
        </p:txBody>
      </p:sp>
      <p:sp>
        <p:nvSpPr>
          <p:cNvPr id="8" name="Text 20"/>
          <p:cNvSpPr/>
          <p:nvPr>
            <p:ph idx="123" type="body" hasCustomPrompt="1"/>
          </p:nvPr>
        </p:nvSpPr>
        <p:spPr>
          <a:xfrm>
            <a:off x="455371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GLUE 平均：TTFS-BERT-base 80.5（SpikeLM 81.3、BERT 84.0）、Large 82.3（BERT 85.3）（Table 1）。GPT-2 XL：常識推論の平均 49.5（GPT-2 51.6）。一方 WikiText ppl は 20.4→26.6、LAMBADA ppl は 10.6→23.8（Table 2）。約 0.80 スパイク/ニューロン。</a:t>
            </a:r>
            <a:endParaRPr lang="en-US" sz="1200" dirty="0"/>
          </a:p>
        </p:txBody>
      </p:sp>
      <p:sp>
        <p:nvSpPr>
          <p:cNvPr id="9" name="Text 20"/>
          <p:cNvSpPr/>
          <p:nvPr>
            <p:ph idx="124" type="body" hasCustomPrompt="1"/>
          </p:nvPr>
        </p:nvSpPr>
        <p:spPr>
          <a:xfrm>
            <a:off x="62179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著者：言語モデリングの劣化が主要課題（時刻の量子化誤差が長い文脈で蓄積する）。エネルギーはスパイク数による代理指標で、実機では未測定。</a:t>
            </a: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所感：Q を膜電位で保持し softmax を直接計算する部分は、純粋なスパイク通信とは言いにくい。</a:t>
            </a:r>
            <a:endParaRPr lang="en-US" sz="1200" dirty="0"/>
          </a:p>
        </p:txBody>
      </p:sp>
      <p:sp>
        <p:nvSpPr>
          <p:cNvPr id="10" name="Text 20"/>
          <p:cNvSpPr/>
          <p:nvPr>
            <p:ph idx="125" type="body" hasCustomPrompt="1"/>
          </p:nvPr>
        </p:nvSpPr>
        <p:spPr>
          <a:xfrm>
            <a:off x="455371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・TTFSFormer (Zhao+ ICML 2025)（未調査）</a:t>
            </a: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・SpikedAttention (NeurIPS 2024)（未調査）</a:t>
            </a: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・SpikeLLM (2024)（既存：spiking-transformer）</a:t>
            </a:r>
            <a:endParaRPr lang="en-US" sz="1200" dirty="0"/>
          </a:p>
        </p:txBody>
      </p:sp>
      <p:sp>
        <p:nvSpPr>
          <p:cNvPr id="11" name="Text 20"/>
          <p:cNvSpPr/>
          <p:nvPr>
            <p:ph idx="129" type="body" hasCustomPrompt="1"/>
          </p:nvPr>
        </p:nvSpPr>
        <p:spPr>
          <a:xfrm>
            <a:off x="8503920" y="4828032"/>
            <a:ext cx="3093415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発表：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arXiv プレプリント 2026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リンク：</a:t>
            </a:r>
            <a:pPr indent="0" marL="0">
              <a:lnSpc>
                <a:spcPts val="1350"/>
              </a:lnSpc>
              <a:buNone/>
            </a:pPr>
            <a:r>
              <a:rPr lang="en-US" sz="1000" u="sng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https://arxiv.org/abs/2609.05151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系譜：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最新（← TTFS≡ReLU (Stanojevic+ 2024)）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調査日：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2026-10-23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確認範囲：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全文（問題提起・手法・実験・結果・考察）</a:t>
            </a:r>
            <a:endParaRPr lang="en-US" sz="1050" dirty="0"/>
          </a:p>
        </p:txBody>
      </p:sp>
      <p:sp>
        <p:nvSpPr>
          <p:cNvPr id="12" name="Text 20"/>
          <p:cNvSpPr/>
          <p:nvPr>
            <p:ph idx="130" type="body" hasCustomPrompt="1"/>
          </p:nvPr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Research Survey ｜ SNN（スパイキングニューラルネットワーク） › スパイク符号化と量子化の境界</a:t>
            </a:r>
            <a:endParaRPr lang="en-US" sz="1000" dirty="0"/>
          </a:p>
        </p:txBody>
      </p:sp>
      <p:pic>
        <p:nvPicPr>
          <p:cNvPr id="13" name="Image 0" descr="/tmp/claude-0/-home-user-researches/dc3d135a-4bab-5b84-bcb3-e0d06fe39570/scratchpad/stage/snn/spike-coding/figures/ttfsllm2026_fig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1664006"/>
            <a:ext cx="3367735" cy="2066947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8366760" y="3931920"/>
            <a:ext cx="3367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出典：TTFS-LLM Fig. 2（参照時刻つき R-TTFS ニューロンと shift-ReLU）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0"/>
          <p:cNvSpPr/>
          <p:nvPr>
            <p:ph idx="126" type="body" hasCustomPrompt="1"/>
          </p:nvPr>
        </p:nvSpPr>
        <p:spPr>
          <a:xfrm>
            <a:off x="457200" y="274320"/>
            <a:ext cx="11277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SNN（スパイキングニューラルネットワーク） › スパイク符号化と量子化の境界 ｜ 系譜：最新</a:t>
            </a:r>
            <a:endParaRPr lang="en-US" sz="1100" dirty="0"/>
          </a:p>
        </p:txBody>
      </p:sp>
      <p:sp>
        <p:nvSpPr>
          <p:cNvPr id="3" name="Text 20"/>
          <p:cNvSpPr/>
          <p:nvPr>
            <p:ph idx="127" type="body" hasCustomPrompt="1"/>
          </p:nvPr>
        </p:nvSpPr>
        <p:spPr>
          <a:xfrm>
            <a:off x="457200" y="530352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50"/>
              </a:lnSpc>
              <a:buNone/>
            </a:pPr>
            <a:r>
              <a:rPr lang="en-US" sz="22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Polyhedral Geometry of Time-to-First-Spike Neural Networks</a:t>
            </a:r>
            <a:endParaRPr lang="en-US" sz="2400" dirty="0"/>
          </a:p>
        </p:txBody>
      </p:sp>
      <p:sp>
        <p:nvSpPr>
          <p:cNvPr id="4" name="Text 20"/>
          <p:cNvSpPr/>
          <p:nvPr>
            <p:ph idx="128" type="body" hasCustomPrompt="1"/>
          </p:nvPr>
        </p:nvSpPr>
        <p:spPr>
          <a:xfrm>
            <a:off x="457200" y="1115568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Manjot Singh, Guido Montúfar, Gitta Kutyniok（LMU ミュンヘン / UCLA）｜ arXiv プレプリント 2026</a:t>
            </a:r>
            <a:endParaRPr lang="en-US" sz="1200" dirty="0"/>
          </a:p>
        </p:txBody>
      </p:sp>
      <p:sp>
        <p:nvSpPr>
          <p:cNvPr id="5" name="Text 20"/>
          <p:cNvSpPr/>
          <p:nvPr>
            <p:ph idx="120" type="body" hasCustomPrompt="1"/>
          </p:nvPr>
        </p:nvSpPr>
        <p:spPr>
          <a:xfrm>
            <a:off x="62179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重みが正の TTFS ネットが連続区分線形写像になる設定で、その線形領域（因果領域）の幾何を解析した。1 ニューロンの発火時刻は指数個（最大 2^d−1）のアフィン片をもつ maxout 型で、ReLU より細かく入力空間を分割できることを示した。</a:t>
            </a:r>
            <a:endParaRPr lang="en-US" sz="1200" dirty="0"/>
          </a:p>
        </p:txBody>
      </p:sp>
      <p:sp>
        <p:nvSpPr>
          <p:cNvPr id="6" name="Text 20"/>
          <p:cNvSpPr/>
          <p:nvPr>
            <p:ph idx="121" type="body" hasCustomPrompt="1"/>
          </p:nvPr>
        </p:nvSpPr>
        <p:spPr>
          <a:xfrm>
            <a:off x="455371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ReLU や maxout には線形領域数の成熟した理論がある。一方 SNN は Maass の普遍性や近似率の結果にとどまり、ReLU との違いを示す領域数の上下界がなかった。ANN-SNN 変換の等価性だけでは、SNN 固有の計算能力は説明できない。</a:t>
            </a:r>
            <a:endParaRPr lang="en-US" sz="1200" dirty="0"/>
          </a:p>
        </p:txBody>
      </p:sp>
      <p:sp>
        <p:nvSpPr>
          <p:cNvPr id="7" name="Text 20"/>
          <p:cNvSpPr/>
          <p:nvPr>
            <p:ph idx="122" type="body" hasCustomPrompt="1"/>
          </p:nvPr>
        </p:nvSpPr>
        <p:spPr>
          <a:xfrm>
            <a:off x="62179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因果集合（発火前に届いた前シナプス集合）ごとに出力時刻はアフィンで、全体はその最小値になる。これを持ち上げた TTFS 多面体と正則細分で表す。浅い網の領域数は幅の多項式。深い網は 2 層ブロックの折り畳みで Π(m_ℓ−1) の下界（Thm 7.2）、重み共有時は上界（Thm 7.3）。</a:t>
            </a:r>
            <a:endParaRPr lang="en-US" sz="1200" dirty="0"/>
          </a:p>
        </p:txBody>
      </p:sp>
      <p:sp>
        <p:nvSpPr>
          <p:cNvPr id="8" name="Text 20"/>
          <p:cNvSpPr/>
          <p:nvPr>
            <p:ph idx="123" type="body" hasCustomPrompt="1"/>
          </p:nvPr>
        </p:nvSpPr>
        <p:spPr>
          <a:xfrm>
            <a:off x="455371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MNIST・CIFAR-10 で初期化直後のネットを使い、入力間を結ぶ直線上の領域数を推定した。領域数は幅とともに急増し、同じ幅・深さの ReLU ネットより一貫して多い（Fig. 9, 11）。2 次元断面の厳密列挙でも SNN の分割の方が細かい（Fig. 12）。</a:t>
            </a:r>
            <a:endParaRPr lang="en-US" sz="1200" dirty="0"/>
          </a:p>
        </p:txBody>
      </p:sp>
      <p:sp>
        <p:nvSpPr>
          <p:cNvPr id="9" name="Text 20"/>
          <p:cNvSpPr/>
          <p:nvPr>
            <p:ph idx="124" type="body" hasCustomPrompt="1"/>
          </p:nvPr>
        </p:nvSpPr>
        <p:spPr>
          <a:xfrm>
            <a:off x="62179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著者：負の重み（不連続写像）、遅延の役割、学習後の典型的な領域数は未解決。</a:t>
            </a: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所感：TTFS＝ReLU の等価性（Stanojevic）とは対照的に、写像の族としては ReLU を超えうる。ただし精度への効き方は未検証。</a:t>
            </a:r>
            <a:endParaRPr lang="en-US" sz="1200" dirty="0"/>
          </a:p>
        </p:txBody>
      </p:sp>
      <p:sp>
        <p:nvSpPr>
          <p:cNvPr id="10" name="Text 20"/>
          <p:cNvSpPr/>
          <p:nvPr>
            <p:ph idx="125" type="body" hasCustomPrompt="1"/>
          </p:nvPr>
        </p:nvSpPr>
        <p:spPr>
          <a:xfrm>
            <a:off x="455371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・Expressivity of Spiking Neural Networks (Singh+ 2023)（未調査）</a:t>
            </a: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・TTFS≡ReLU (Stanojevic+ 2024)（本資料）</a:t>
            </a: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・TTFS 直接学習 (Mostafa 2017)（本資料）</a:t>
            </a:r>
            <a:endParaRPr lang="en-US" sz="1200" dirty="0"/>
          </a:p>
        </p:txBody>
      </p:sp>
      <p:sp>
        <p:nvSpPr>
          <p:cNvPr id="11" name="Text 20"/>
          <p:cNvSpPr/>
          <p:nvPr>
            <p:ph idx="129" type="body" hasCustomPrompt="1"/>
          </p:nvPr>
        </p:nvSpPr>
        <p:spPr>
          <a:xfrm>
            <a:off x="8503920" y="4828032"/>
            <a:ext cx="3093415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発表：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arXiv プレプリント 2026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リンク：</a:t>
            </a:r>
            <a:pPr indent="0" marL="0">
              <a:lnSpc>
                <a:spcPts val="1350"/>
              </a:lnSpc>
              <a:buNone/>
            </a:pPr>
            <a:r>
              <a:rPr lang="en-US" sz="1000" u="sng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https://arxiv.org/abs/2609.11227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系譜：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最新（← TTFS 直接学習 (Mostafa 2017)）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調査日：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2026-10-23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確認範囲：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全文（問題提起・手法・実験・結果・考察）</a:t>
            </a:r>
            <a:endParaRPr lang="en-US" sz="1050" dirty="0"/>
          </a:p>
        </p:txBody>
      </p:sp>
      <p:sp>
        <p:nvSpPr>
          <p:cNvPr id="12" name="Text 20"/>
          <p:cNvSpPr/>
          <p:nvPr>
            <p:ph idx="130" type="body" hasCustomPrompt="1"/>
          </p:nvPr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Research Survey ｜ SNN（スパイキングニューラルネットワーク） › スパイク符号化と量子化の境界</a:t>
            </a:r>
            <a:endParaRPr lang="en-US" sz="1000" dirty="0"/>
          </a:p>
        </p:txBody>
      </p:sp>
      <p:pic>
        <p:nvPicPr>
          <p:cNvPr id="13" name="Image 0" descr="/tmp/claude-0/-home-user-researches/dc3d135a-4bab-5b84-bcb3-e0d06fe39570/scratchpad/stage/snn/spike-coding/figures/polyhedral2026_fig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127070"/>
            <a:ext cx="3367735" cy="114082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8366760" y="3931920"/>
            <a:ext cx="3367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出典：TTFS 多面体幾何 Fig. 1（入力 3 次元の断面における因果領域の分割）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0"/>
          <p:cNvSpPr/>
          <p:nvPr>
            <p:ph idx="126" type="body" hasCustomPrompt="1"/>
          </p:nvPr>
        </p:nvSpPr>
        <p:spPr>
          <a:xfrm>
            <a:off x="457200" y="274320"/>
            <a:ext cx="11277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SNN（スパイキングニューラルネットワーク） › スパイク符号化と量子化の境界 ｜ 系譜：最新</a:t>
            </a:r>
            <a:endParaRPr lang="en-US" sz="1100" dirty="0"/>
          </a:p>
        </p:txBody>
      </p:sp>
      <p:sp>
        <p:nvSpPr>
          <p:cNvPr id="3" name="Text 20"/>
          <p:cNvSpPr/>
          <p:nvPr>
            <p:ph idx="127" type="body" hasCustomPrompt="1"/>
          </p:nvPr>
        </p:nvSpPr>
        <p:spPr>
          <a:xfrm>
            <a:off x="457200" y="530352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50"/>
              </a:lnSpc>
              <a:buNone/>
            </a:pPr>
            <a:r>
              <a:rPr lang="en-US" sz="16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Parallel Time-Aligned Spiking Self-Attention for Consistent Integer-Valued Training and Spike-Driven Inference</a:t>
            </a:r>
            <a:endParaRPr lang="en-US" sz="2400" dirty="0"/>
          </a:p>
        </p:txBody>
      </p:sp>
      <p:sp>
        <p:nvSpPr>
          <p:cNvPr id="4" name="Text 20"/>
          <p:cNvSpPr/>
          <p:nvPr>
            <p:ph idx="128" type="body" hasCustomPrompt="1"/>
          </p:nvPr>
        </p:nvSpPr>
        <p:spPr>
          <a:xfrm>
            <a:off x="457200" y="1115568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Peng Xue, Wei Fang, Kaiwei Che ほか（中国科学院深圳先進技術研究院 / 鵬城実験室 / 北京大学）｜ arXiv プレプリント 2026</a:t>
            </a:r>
            <a:endParaRPr lang="en-US" sz="1200" dirty="0"/>
          </a:p>
        </p:txBody>
      </p:sp>
      <p:sp>
        <p:nvSpPr>
          <p:cNvPr id="5" name="Text 20"/>
          <p:cNvSpPr/>
          <p:nvPr>
            <p:ph idx="120" type="body" hasCustomPrompt="1"/>
          </p:nvPr>
        </p:nvSpPr>
        <p:spPr>
          <a:xfrm>
            <a:off x="62179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I-LIF や SFA（整数で学習しスパイクで推論）を自己注意に使うと、学習時の整数どうしの積に、推論時には存在しない「異なる時刻間の積」が混ざって等価性が崩れる（TIM）と指摘した。時刻をそろえて並列計算する PT-SSA で解消した。</a:t>
            </a:r>
            <a:endParaRPr lang="en-US" sz="1200" dirty="0"/>
          </a:p>
        </p:txBody>
      </p:sp>
      <p:sp>
        <p:nvSpPr>
          <p:cNvPr id="6" name="Text 20"/>
          <p:cNvSpPr/>
          <p:nvPr>
            <p:ph idx="121" type="body" hasCustomPrompt="1"/>
          </p:nvPr>
        </p:nvSpPr>
        <p:spPr>
          <a:xfrm>
            <a:off x="455371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SFA（E-SpikeFormer）の等価性の証明は後段が線形の場合に限られ、QKᵀV のような 3 重積は未検証だった。ImageNet では整数推論 75.41% に対し、スパイク推論は 47.62% と 27.78pt 落ちる。推論側で交差項を再現すると計算と記憶が増える。</a:t>
            </a:r>
            <a:endParaRPr lang="en-US" sz="1200" dirty="0"/>
          </a:p>
        </p:txBody>
      </p:sp>
      <p:sp>
        <p:nvSpPr>
          <p:cNvPr id="7" name="Text 20"/>
          <p:cNvSpPr/>
          <p:nvPr>
            <p:ph idx="122" type="body" hasCustomPrompt="1"/>
          </p:nvPr>
        </p:nvSpPr>
        <p:spPr>
          <a:xfrm>
            <a:off x="62179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整数（カウント）を仮想ステップのスパイク X_d=1[C&gt;d] に展開し、同じ d どうしの Q_d K_dᵀ V_d だけを並列に計算して和をとる（時刻がそろわない交差項は除外）。SFA では出力スケールの低下を補うため、学習可能な閾値（Adaptive）を加える。</a:t>
            </a:r>
            <a:endParaRPr lang="en-US" sz="1200" dirty="0"/>
          </a:p>
        </p:txBody>
      </p:sp>
      <p:sp>
        <p:nvSpPr>
          <p:cNvPr id="8" name="Text 20"/>
          <p:cNvSpPr/>
          <p:nvPr>
            <p:ph idx="123" type="body" hasCustomPrompt="1"/>
          </p:nvPr>
        </p:nvSpPr>
        <p:spPr>
          <a:xfrm>
            <a:off x="455371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D=4 で、I-LIF の CIFAR-100 の差は 1.85→0.29pt、SFA は 26.99→0.07pt（Table 1）。ImageNet の差は 27.78→0.06pt、スパイク推論 74.53%。D を増やすと SSA の差は広がる（D=8 で 4.34pt）（Table 3）。Triton 実装は LIF SSA の 2.91 倍速。</a:t>
            </a:r>
            <a:endParaRPr lang="en-US" sz="1200" dirty="0"/>
          </a:p>
        </p:txBody>
      </p:sp>
      <p:sp>
        <p:nvSpPr>
          <p:cNvPr id="9" name="Text 20"/>
          <p:cNvSpPr/>
          <p:nvPr>
            <p:ph idx="124" type="body" hasCustomPrompt="1"/>
          </p:nvPr>
        </p:nvSpPr>
        <p:spPr>
          <a:xfrm>
            <a:off x="62179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著者：整数推論の精度は SSA よりわずかに下がることがあり、両方の経路を評価すべき。</a:t>
            </a: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所感：量子化 ANN で学びスパイクで推論する設計は、乗算などの非線形演算で等価性が崩れうる。その重要な警告になっている。</a:t>
            </a:r>
            <a:endParaRPr lang="en-US" sz="1200" dirty="0"/>
          </a:p>
        </p:txBody>
      </p:sp>
      <p:sp>
        <p:nvSpPr>
          <p:cNvPr id="10" name="Text 20"/>
          <p:cNvSpPr/>
          <p:nvPr>
            <p:ph idx="125" type="body" hasCustomPrompt="1"/>
          </p:nvPr>
        </p:nvSpPr>
        <p:spPr>
          <a:xfrm>
            <a:off x="455371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・E-SpikeFormer / SFA (2024)（既存：spiking-transformer）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・SpikeYOLO / I-LIF (2024)（本資料）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・QSD-Transformer (2025)（未調査）</a:t>
            </a:r>
            <a:endParaRPr lang="en-US" sz="1200" dirty="0"/>
          </a:p>
        </p:txBody>
      </p:sp>
      <p:sp>
        <p:nvSpPr>
          <p:cNvPr id="11" name="Text 20"/>
          <p:cNvSpPr/>
          <p:nvPr>
            <p:ph idx="129" type="body" hasCustomPrompt="1"/>
          </p:nvPr>
        </p:nvSpPr>
        <p:spPr>
          <a:xfrm>
            <a:off x="8503920" y="4828032"/>
            <a:ext cx="3093415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発表：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arXiv プレプリント 2026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リンク：</a:t>
            </a:r>
            <a:pPr indent="0" marL="0">
              <a:lnSpc>
                <a:spcPts val="1350"/>
              </a:lnSpc>
              <a:buNone/>
            </a:pPr>
            <a:r>
              <a:rPr lang="en-US" sz="1000" u="sng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https://arxiv.org/abs/2610.03291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系譜：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最新（← SpikeYOLO / I-LIF (Luo+ 2024)）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調査日：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2026-10-23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確認範囲：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全文（問題提起・手法・実験・結果・考察）</a:t>
            </a:r>
            <a:endParaRPr lang="en-US" sz="1050" dirty="0"/>
          </a:p>
        </p:txBody>
      </p:sp>
      <p:sp>
        <p:nvSpPr>
          <p:cNvPr id="12" name="Text 20"/>
          <p:cNvSpPr/>
          <p:nvPr>
            <p:ph idx="130" type="body" hasCustomPrompt="1"/>
          </p:nvPr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Research Survey ｜ SNN（スパイキングニューラルネットワーク） › スパイク符号化と量子化の境界</a:t>
            </a:r>
            <a:endParaRPr lang="en-US" sz="1000" dirty="0"/>
          </a:p>
        </p:txBody>
      </p:sp>
      <p:pic>
        <p:nvPicPr>
          <p:cNvPr id="13" name="Image 0" descr="/tmp/claude-0/-home-user-researches/dc3d135a-4bab-5b84-bcb3-e0d06fe39570/scratchpad/stage/snn/spike-coding/figures/ptssa2026_fig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124965"/>
            <a:ext cx="3367735" cy="114503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8366760" y="3931920"/>
            <a:ext cx="3367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出典：PT-SSA Fig. 1（整数学習とスパイク推論で QKᵀ が食い違う例）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0"/>
          <p:cNvSpPr/>
          <p:nvPr>
            <p:ph idx="126" type="body" hasCustomPrompt="1"/>
          </p:nvPr>
        </p:nvSpPr>
        <p:spPr>
          <a:xfrm>
            <a:off x="457200" y="274320"/>
            <a:ext cx="11277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SNN（スパイキングニューラルネットワーク） › スパイク符号化と量子化の境界 ｜ 系譜：最新</a:t>
            </a:r>
            <a:endParaRPr lang="en-US" sz="1100" dirty="0"/>
          </a:p>
        </p:txBody>
      </p:sp>
      <p:sp>
        <p:nvSpPr>
          <p:cNvPr id="3" name="Text 20"/>
          <p:cNvSpPr/>
          <p:nvPr>
            <p:ph idx="127" type="body" hasCustomPrompt="1"/>
          </p:nvPr>
        </p:nvSpPr>
        <p:spPr>
          <a:xfrm>
            <a:off x="457200" y="530352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50"/>
              </a:lnSpc>
              <a:buNone/>
            </a:pPr>
            <a:r>
              <a:rPr lang="en-US" sz="16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Rethinking the Tradeoff Between Temporal Encoding and Nonlinear Computation in Spiking Language Models</a:t>
            </a:r>
            <a:endParaRPr lang="en-US" sz="2400" dirty="0"/>
          </a:p>
        </p:txBody>
      </p:sp>
      <p:sp>
        <p:nvSpPr>
          <p:cNvPr id="4" name="Text 20"/>
          <p:cNvSpPr/>
          <p:nvPr>
            <p:ph idx="128" type="body" hasCustomPrompt="1"/>
          </p:nvPr>
        </p:nvSpPr>
        <p:spPr>
          <a:xfrm>
            <a:off x="457200" y="1115568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Hanfei Liu, Shuchang Feng, Yanxia Chen ほか（東北大学（中国））｜ arXiv プレプリント 2026</a:t>
            </a:r>
            <a:endParaRPr lang="en-US" sz="1200" dirty="0"/>
          </a:p>
        </p:txBody>
      </p:sp>
      <p:sp>
        <p:nvSpPr>
          <p:cNvPr id="5" name="Text 20"/>
          <p:cNvSpPr/>
          <p:nvPr>
            <p:ph idx="120" type="body" hasCustomPrompt="1"/>
          </p:nvPr>
        </p:nvSpPr>
        <p:spPr>
          <a:xfrm>
            <a:off x="62179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スパイキング言語モデル向けに、時刻ごとに 2 進の重み（8, 4, 2, 1）をもつスパイク符号 UBS/BBS と、加算とシフトだけで計算する注意を同時に設計した。4 ステップで GLUE 平均 76.6（SpikeLM +1.2）、CoLA MCC 44.1 を達成した。</a:t>
            </a:r>
            <a:endParaRPr lang="en-US" sz="1200" dirty="0"/>
          </a:p>
        </p:txBody>
      </p:sp>
      <p:sp>
        <p:nvSpPr>
          <p:cNvPr id="6" name="Text 20"/>
          <p:cNvSpPr/>
          <p:nvPr>
            <p:ph idx="121" type="body" hasCustomPrompt="1"/>
          </p:nvPr>
        </p:nvSpPr>
        <p:spPr>
          <a:xfrm>
            <a:off x="455371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レート（カウント）読み出しは T ステップで log2(T+1) ビットしか表せない。SpikeLM や SpikeLLM は浮動小数の softmax を残し、Sorbet は 16 ステップを要する。表現精度と非線形演算のコストの両立が課題だった。</a:t>
            </a:r>
            <a:endParaRPr lang="en-US" sz="1200" dirty="0"/>
          </a:p>
        </p:txBody>
      </p:sp>
      <p:sp>
        <p:nvSpPr>
          <p:cNvPr id="7" name="Text 20"/>
          <p:cNvSpPr/>
          <p:nvPr>
            <p:ph idx="122" type="body" hasCustomPrompt="1"/>
          </p:nvPr>
        </p:nvSpPr>
        <p:spPr>
          <a:xfrm>
            <a:off x="62179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UBS：上位ビットから閾値と比較し、発火したら残差に減衰 α を掛ける（条件付き減衰で入力の区切りを調整、出力は Σ2^{U−t}S(t)）。BBS：符号と大きさを分け、学習可能なスケール s を持つ。softmax の e^x は 2^{UBS(x)} のシフトで近似する。</a:t>
            </a:r>
            <a:endParaRPr lang="en-US" sz="1200" dirty="0"/>
          </a:p>
        </p:txBody>
      </p:sp>
      <p:sp>
        <p:nvSpPr>
          <p:cNvPr id="8" name="Text 20"/>
          <p:cNvSpPr/>
          <p:nvPr>
            <p:ph idx="123" type="body" hasCustomPrompt="1"/>
          </p:nvPr>
        </p:nvSpPr>
        <p:spPr>
          <a:xfrm>
            <a:off x="455371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GLUE（T=4）平均 76.6、T=6 で 78.2（Table 1）。同じ 15 状態の静的 4bit QAT と比べ、CoLA MCC 47.40 対 40.97（Table 2）。注意の推定エネルギーは 98.53% 減、モデル全体で BERT の約 4.6 倍省エネ（Table 3, 4）。</a:t>
            </a:r>
            <a:endParaRPr lang="en-US" sz="1200" dirty="0"/>
          </a:p>
        </p:txBody>
      </p:sp>
      <p:sp>
        <p:nvSpPr>
          <p:cNvPr id="9" name="Text 20"/>
          <p:cNvSpPr/>
          <p:nvPr>
            <p:ph idx="124" type="body" hasCustomPrompt="1"/>
          </p:nvPr>
        </p:nvSpPr>
        <p:spPr>
          <a:xfrm>
            <a:off x="62179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著者：行の正規化とスケールは浮動小数のまま。重み量子化との併用や、実装でのメモリ移動の評価は今後の課題。</a:t>
            </a:r>
            <a:endParaRPr lang="en-US" sz="12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所感：中身は 2 進のビットプレーン符号、すなわち多ビット量子化であり、SNN と QNN の境界が最も曖昧になった例と言える。</a:t>
            </a:r>
            <a:endParaRPr lang="en-US" sz="1200" dirty="0"/>
          </a:p>
        </p:txBody>
      </p:sp>
      <p:sp>
        <p:nvSpPr>
          <p:cNvPr id="10" name="Text 20"/>
          <p:cNvSpPr/>
          <p:nvPr>
            <p:ph idx="125" type="body" hasCustomPrompt="1"/>
          </p:nvPr>
        </p:nvSpPr>
        <p:spPr>
          <a:xfrm>
            <a:off x="455371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・FS ニューロン (Stöckl &amp; Maass 2021)（本資料）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・SpikeLM (2024)（未調査）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・Sorbet (2025)（未調査）</a:t>
            </a:r>
            <a:endParaRPr lang="en-US" sz="1200" dirty="0"/>
          </a:p>
        </p:txBody>
      </p:sp>
      <p:sp>
        <p:nvSpPr>
          <p:cNvPr id="11" name="Text 20"/>
          <p:cNvSpPr/>
          <p:nvPr>
            <p:ph idx="129" type="body" hasCustomPrompt="1"/>
          </p:nvPr>
        </p:nvSpPr>
        <p:spPr>
          <a:xfrm>
            <a:off x="8503920" y="4828032"/>
            <a:ext cx="3093415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発表：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arXiv プレプリント 2026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リンク：</a:t>
            </a:r>
            <a:pPr indent="0" marL="0">
              <a:lnSpc>
                <a:spcPts val="1350"/>
              </a:lnSpc>
              <a:buNone/>
            </a:pPr>
            <a:r>
              <a:rPr lang="en-US" sz="1000" u="sng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https://arxiv.org/abs/2610.10933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系譜：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最新（← FS ニューロン (Stöckl &amp; Maass 2021)）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調査日：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2026-10-23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確認範囲：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全文（問題提起・手法・実験・結果・考察）</a:t>
            </a:r>
            <a:endParaRPr lang="en-US" sz="1050" dirty="0"/>
          </a:p>
        </p:txBody>
      </p:sp>
      <p:sp>
        <p:nvSpPr>
          <p:cNvPr id="12" name="Text 20"/>
          <p:cNvSpPr/>
          <p:nvPr>
            <p:ph idx="130" type="body" hasCustomPrompt="1"/>
          </p:nvPr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Research Survey ｜ SNN（スパイキングニューラルネットワーク） › スパイク符号化と量子化の境界</a:t>
            </a:r>
            <a:endParaRPr lang="en-US" sz="1000" dirty="0"/>
          </a:p>
        </p:txBody>
      </p:sp>
      <p:pic>
        <p:nvPicPr>
          <p:cNvPr id="13" name="Image 0" descr="/tmp/claude-0/-home-user-researches/dc3d135a-4bab-5b84-bcb3-e0d06fe39570/scratchpad/stage/snn/spike-coding/figures/spora2026_fig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1772278"/>
            <a:ext cx="3367735" cy="1850404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8366760" y="3931920"/>
            <a:ext cx="3367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出典：Spora Fig. 1（レート・TTFS・順位・Few-Spike・UBS・BBS の各符号）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eiry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iry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SNN（スパイキングニューラルネットワーク） › スパイク符号化と量子化の境界</dc:title>
  <dc:subject>PptxGenJS Presentation</dc:subject>
  <dc:creator>PptxGenJS</dc:creator>
  <cp:lastModifiedBy>PptxGenJS</cp:lastModifiedBy>
  <cp:revision>1</cp:revision>
  <dcterms:created xsi:type="dcterms:W3CDTF">2026-10-23T18:52:43Z</dcterms:created>
  <dcterms:modified xsi:type="dcterms:W3CDTF">2026-10-23T18:52:43Z</dcterms:modified>
</cp:coreProperties>
</file>