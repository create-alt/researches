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【テンプレートの使い方】
・1論文につき1枚。分野ごとにブランチを切り、テーマごとに1つの pptx（+PDF）にまとめる。
・最新動向の論文から着手し、系譜を持つ場合は原典まで遡って同じ形式で1枚ずつ作成する。
・アブストラクトだけでなく、問題提起・手法・実験・結果・考察まで読んだうえで記入する。
・本文にアクセスできない論文はスライドにしない（影響が大きいものは README に「未確認」と明記して概要のみ記載）。
・右上の代表図には論文中の図を1点引用し、キャプションに図番号を記載する。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CHIAI_PAP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645920"/>
            <a:ext cx="3794760" cy="1417320"/>
          </a:xfrm>
          <a:prstGeom prst="rect">
            <a:avLst>
              <a:gd name="adj" fmla="val 5161"/>
            </a:avLst>
          </a:prstGeom>
          <a:solidFill>
            <a:srgbClr val="F2F4F8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1755648"/>
            <a:ext cx="310896" cy="310896"/>
          </a:xfrm>
          <a:prstGeom prst="ellipse">
            <a:avLst/>
          </a:prstGeom>
          <a:solidFill>
            <a:srgbClr val="D9480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173736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どんなもの？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434840" y="1645920"/>
            <a:ext cx="3794760" cy="1417320"/>
          </a:xfrm>
          <a:prstGeom prst="rect">
            <a:avLst>
              <a:gd name="adj" fmla="val 5161"/>
            </a:avLst>
          </a:prstGeom>
          <a:solidFill>
            <a:srgbClr val="F2F4F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0" y="1755648"/>
            <a:ext cx="310896" cy="310896"/>
          </a:xfrm>
          <a:prstGeom prst="ellipse">
            <a:avLst/>
          </a:prstGeom>
          <a:solidFill>
            <a:srgbClr val="D9480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983480" y="173736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先行研究と比べてどこがすごい？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246120"/>
            <a:ext cx="3794760" cy="1417320"/>
          </a:xfrm>
          <a:prstGeom prst="rect">
            <a:avLst>
              <a:gd name="adj" fmla="val 5161"/>
            </a:avLst>
          </a:prstGeom>
          <a:solidFill>
            <a:srgbClr val="F2F4F8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3355848"/>
            <a:ext cx="310896" cy="310896"/>
          </a:xfrm>
          <a:prstGeom prst="ellipse">
            <a:avLst/>
          </a:prstGeom>
          <a:solidFill>
            <a:srgbClr val="D9480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333756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技術や手法のキモはどこ？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434840" y="3246120"/>
            <a:ext cx="3794760" cy="1417320"/>
          </a:xfrm>
          <a:prstGeom prst="rect">
            <a:avLst>
              <a:gd name="adj" fmla="val 5161"/>
            </a:avLst>
          </a:prstGeom>
          <a:solidFill>
            <a:srgbClr val="F2F4F8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3355848"/>
            <a:ext cx="310896" cy="310896"/>
          </a:xfrm>
          <a:prstGeom prst="ellipse">
            <a:avLst/>
          </a:prstGeom>
          <a:solidFill>
            <a:srgbClr val="D9480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83480" y="333756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どうやって有効だと検証した？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4846320"/>
            <a:ext cx="3794760" cy="1417320"/>
          </a:xfrm>
          <a:prstGeom prst="rect">
            <a:avLst>
              <a:gd name="adj" fmla="val 5161"/>
            </a:avLst>
          </a:prstGeom>
          <a:solidFill>
            <a:srgbClr val="F2F4F8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4956048"/>
            <a:ext cx="310896" cy="310896"/>
          </a:xfrm>
          <a:prstGeom prst="ellipse">
            <a:avLst/>
          </a:prstGeom>
          <a:solidFill>
            <a:srgbClr val="D9480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05840" y="493776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議論はある？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434840" y="4846320"/>
            <a:ext cx="3794760" cy="1417320"/>
          </a:xfrm>
          <a:prstGeom prst="rect">
            <a:avLst>
              <a:gd name="adj" fmla="val 5161"/>
            </a:avLst>
          </a:prstGeom>
          <a:solidFill>
            <a:srgbClr val="F2F4F8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0" y="4956048"/>
            <a:ext cx="310896" cy="310896"/>
          </a:xfrm>
          <a:prstGeom prst="ellipse">
            <a:avLst/>
          </a:prstGeom>
          <a:solidFill>
            <a:srgbClr val="D9480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983480" y="493776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次に読むべき論文は？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412480" y="4480560"/>
            <a:ext cx="3322015" cy="1783080"/>
          </a:xfrm>
          <a:prstGeom prst="rect">
            <a:avLst>
              <a:gd name="adj" fmla="val 4103"/>
            </a:avLst>
          </a:prstGeom>
          <a:solidFill>
            <a:srgbClr val="F2F4F8"/>
          </a:solidFill>
          <a:ln/>
        </p:spPr>
      </p:sp>
      <p:sp>
        <p:nvSpPr>
          <p:cNvPr id="21" name="Text 19"/>
          <p:cNvSpPr/>
          <p:nvPr/>
        </p:nvSpPr>
        <p:spPr>
          <a:xfrm>
            <a:off x="8549640" y="4572000"/>
            <a:ext cx="3047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書誌情報</a:t>
            </a:r>
            <a:endParaRPr lang="en-US" sz="1300" dirty="0"/>
          </a:p>
        </p:txBody>
      </p:sp>
      <p:sp>
        <p:nvSpPr>
          <p:cNvPr id="22" name="Text 20"/>
          <p:cNvSpPr/>
          <p:nvPr>
            <p:ph idx="120" type="body" hasCustomPrompt="1"/>
          </p:nvPr>
        </p:nvSpPr>
        <p:spPr>
          <a:xfrm>
            <a:off x="621792" y="2148840"/>
            <a:ext cx="3465576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10000"/>
              </a:lnSpc>
              <a:buNone/>
              <a:defRPr lang="en-US" sz="12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lnSpc>
                <a:spcPct val="110000"/>
              </a:lnSpc>
              <a:buNone/>
            </a:pPr>
            <a:endParaRPr lang="en-US" sz="1200" dirty="0"/>
          </a:p>
        </p:txBody>
      </p:sp>
      <p:sp>
        <p:nvSpPr>
          <p:cNvPr id="23" name="Text 20"/>
          <p:cNvSpPr/>
          <p:nvPr>
            <p:ph idx="121" type="body" hasCustomPrompt="1"/>
          </p:nvPr>
        </p:nvSpPr>
        <p:spPr>
          <a:xfrm>
            <a:off x="4599432" y="2148840"/>
            <a:ext cx="3465576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10000"/>
              </a:lnSpc>
              <a:buNone/>
              <a:defRPr lang="en-US" sz="12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lnSpc>
                <a:spcPct val="110000"/>
              </a:lnSpc>
              <a:buNone/>
            </a:pPr>
            <a:endParaRPr lang="en-US" sz="1200" dirty="0"/>
          </a:p>
        </p:txBody>
      </p:sp>
      <p:sp>
        <p:nvSpPr>
          <p:cNvPr id="24" name="Text 20"/>
          <p:cNvSpPr/>
          <p:nvPr>
            <p:ph idx="122" type="body" hasCustomPrompt="1"/>
          </p:nvPr>
        </p:nvSpPr>
        <p:spPr>
          <a:xfrm>
            <a:off x="621792" y="3749040"/>
            <a:ext cx="3465576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10000"/>
              </a:lnSpc>
              <a:buNone/>
              <a:defRPr lang="en-US" sz="12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lnSpc>
                <a:spcPct val="110000"/>
              </a:lnSpc>
              <a:buNone/>
            </a:pPr>
            <a:endParaRPr lang="en-US" sz="1200" dirty="0"/>
          </a:p>
        </p:txBody>
      </p:sp>
      <p:sp>
        <p:nvSpPr>
          <p:cNvPr id="25" name="Text 20"/>
          <p:cNvSpPr/>
          <p:nvPr>
            <p:ph idx="123" type="body" hasCustomPrompt="1"/>
          </p:nvPr>
        </p:nvSpPr>
        <p:spPr>
          <a:xfrm>
            <a:off x="4599432" y="3749040"/>
            <a:ext cx="3465576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10000"/>
              </a:lnSpc>
              <a:buNone/>
              <a:defRPr lang="en-US" sz="12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lnSpc>
                <a:spcPct val="110000"/>
              </a:lnSpc>
              <a:buNone/>
            </a:pPr>
            <a:endParaRPr lang="en-US" sz="1200" dirty="0"/>
          </a:p>
        </p:txBody>
      </p:sp>
      <p:sp>
        <p:nvSpPr>
          <p:cNvPr id="26" name="Text 20"/>
          <p:cNvSpPr/>
          <p:nvPr>
            <p:ph idx="124" type="body" hasCustomPrompt="1"/>
          </p:nvPr>
        </p:nvSpPr>
        <p:spPr>
          <a:xfrm>
            <a:off x="621792" y="5349240"/>
            <a:ext cx="3465576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10000"/>
              </a:lnSpc>
              <a:buNone/>
              <a:defRPr lang="en-US" sz="12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lnSpc>
                <a:spcPct val="110000"/>
              </a:lnSpc>
              <a:buNone/>
            </a:pPr>
            <a:endParaRPr lang="en-US" sz="1200" dirty="0"/>
          </a:p>
        </p:txBody>
      </p:sp>
      <p:sp>
        <p:nvSpPr>
          <p:cNvPr id="27" name="Text 20"/>
          <p:cNvSpPr/>
          <p:nvPr>
            <p:ph idx="125" type="body" hasCustomPrompt="1"/>
          </p:nvPr>
        </p:nvSpPr>
        <p:spPr>
          <a:xfrm>
            <a:off x="4599432" y="5349240"/>
            <a:ext cx="3465576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10000"/>
              </a:lnSpc>
              <a:buNone/>
              <a:defRPr lang="en-US" sz="12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lnSpc>
                <a:spcPct val="110000"/>
              </a:lnSpc>
              <a:buNone/>
            </a:pPr>
            <a:endParaRPr lang="en-US" sz="1200" dirty="0"/>
          </a:p>
        </p:txBody>
      </p:sp>
      <p:sp>
        <p:nvSpPr>
          <p:cNvPr id="28" name="Text 20"/>
          <p:cNvSpPr/>
          <p:nvPr>
            <p:ph idx="126" type="body" hasCustomPrompt="1"/>
          </p:nvPr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29" name="Text 20"/>
          <p:cNvSpPr/>
          <p:nvPr>
            <p:ph idx="127" type="body" hasCustomPrompt="1"/>
          </p:nvPr>
        </p:nvSpPr>
        <p:spPr>
          <a:xfrm>
            <a:off x="457200" y="566928"/>
            <a:ext cx="11277295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4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buNone/>
            </a:pPr>
            <a:endParaRPr lang="en-US" sz="2400" dirty="0"/>
          </a:p>
        </p:txBody>
      </p:sp>
      <p:sp>
        <p:nvSpPr>
          <p:cNvPr id="30" name="Text 20"/>
          <p:cNvSpPr/>
          <p:nvPr>
            <p:ph idx="128" type="body" hasCustomPrompt="1"/>
          </p:nvPr>
        </p:nvSpPr>
        <p:spPr>
          <a:xfrm>
            <a:off x="457200" y="1152144"/>
            <a:ext cx="11277295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1" name="Text 20"/>
          <p:cNvSpPr/>
          <p:nvPr>
            <p:ph idx="129" type="body" hasCustomPrompt="1"/>
          </p:nvPr>
        </p:nvSpPr>
        <p:spPr>
          <a:xfrm>
            <a:off x="8549640" y="4937760"/>
            <a:ext cx="3047695" cy="12344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15000"/>
              </a:lnSpc>
              <a:buNone/>
              <a:defRPr lang="en-US" sz="10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lnSpc>
                <a:spcPct val="115000"/>
              </a:lnSpc>
              <a:buNone/>
            </a:pPr>
            <a:endParaRPr lang="en-US" sz="1050" dirty="0"/>
          </a:p>
        </p:txBody>
      </p:sp>
      <p:sp>
        <p:nvSpPr>
          <p:cNvPr id="32" name="Text 20"/>
          <p:cNvSpPr/>
          <p:nvPr>
            <p:ph idx="130" type="body" hasCustomPrompt="1"/>
          </p:nvPr>
        </p:nvSpPr>
        <p:spPr>
          <a:xfrm>
            <a:off x="457200" y="641908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8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8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0"/>
          <p:cNvSpPr/>
          <p:nvPr>
            <p:ph idx="126" type="body" hasCustomPrompt="1"/>
          </p:nvPr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分野名 › テーマ名 ｜ 系譜：原典 / 発展 / 最新動向</a:t>
            </a:r>
            <a:endParaRPr lang="en-US" sz="1100" dirty="0"/>
          </a:p>
        </p:txBody>
      </p:sp>
      <p:sp>
        <p:nvSpPr>
          <p:cNvPr id="3" name="Text 20"/>
          <p:cNvSpPr/>
          <p:nvPr>
            <p:ph idx="127" type="body" hasCustomPrompt="1"/>
          </p:nvPr>
        </p:nvSpPr>
        <p:spPr>
          <a:xfrm>
            <a:off x="457200" y="566928"/>
            <a:ext cx="11277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論文タイトル（原題をそのまま記載）</a:t>
            </a:r>
            <a:endParaRPr lang="en-US" sz="2400" dirty="0"/>
          </a:p>
        </p:txBody>
      </p:sp>
      <p:sp>
        <p:nvSpPr>
          <p:cNvPr id="4" name="Text 20"/>
          <p:cNvSpPr/>
          <p:nvPr>
            <p:ph idx="128" type="body" hasCustomPrompt="1"/>
          </p:nvPr>
        </p:nvSpPr>
        <p:spPr>
          <a:xfrm>
            <a:off x="457200" y="1152144"/>
            <a:ext cx="11277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著者1, 著者2, …（筆頭著者の所属）｜ 会議・ジャーナル名 発表年</a:t>
            </a:r>
            <a:endParaRPr lang="en-US" sz="1200" dirty="0"/>
          </a:p>
        </p:txBody>
      </p:sp>
      <p:sp>
        <p:nvSpPr>
          <p:cNvPr id="5" name="Text 20"/>
          <p:cNvSpPr/>
          <p:nvPr>
            <p:ph idx="120" type="body" hasCustomPrompt="1"/>
          </p:nvPr>
        </p:nvSpPr>
        <p:spPr>
          <a:xfrm>
            <a:off x="621792" y="2148840"/>
            <a:ext cx="34655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この論文が何をしたかを2〜3文で要約する。対象とする問題・提案手法の名前・最大の成果を一言で言い切る。</a:t>
            </a:r>
            <a:endParaRPr lang="en-US" sz="1200" dirty="0"/>
          </a:p>
        </p:txBody>
      </p:sp>
      <p:sp>
        <p:nvSpPr>
          <p:cNvPr id="6" name="Text 20"/>
          <p:cNvSpPr/>
          <p:nvPr>
            <p:ph idx="121" type="body" hasCustomPrompt="1"/>
          </p:nvPr>
        </p:nvSpPr>
        <p:spPr>
          <a:xfrm>
            <a:off x="4599432" y="2148840"/>
            <a:ext cx="34655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既存手法の限界（論文の問題提起）と、それに対する本研究の差分・新規性。比較対象となる代表的な先行研究名を挙げる。</a:t>
            </a:r>
            <a:endParaRPr lang="en-US" sz="1200" dirty="0"/>
          </a:p>
        </p:txBody>
      </p:sp>
      <p:sp>
        <p:nvSpPr>
          <p:cNvPr id="7" name="Text 20"/>
          <p:cNvSpPr/>
          <p:nvPr>
            <p:ph idx="122" type="body" hasCustomPrompt="1"/>
          </p:nvPr>
        </p:nvSpPr>
        <p:spPr>
          <a:xfrm>
            <a:off x="621792" y="3749040"/>
            <a:ext cx="34655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新規性や性能を生んでいる中核アイデア。アーキテクチャ・目的関数・アルゴリズムの要点を、必要なら数式1つで示す。</a:t>
            </a:r>
            <a:endParaRPr lang="en-US" sz="1200" dirty="0"/>
          </a:p>
        </p:txBody>
      </p:sp>
      <p:sp>
        <p:nvSpPr>
          <p:cNvPr id="8" name="Text 20"/>
          <p:cNvSpPr/>
          <p:nvPr>
            <p:ph idx="123" type="body" hasCustomPrompt="1"/>
          </p:nvPr>
        </p:nvSpPr>
        <p:spPr>
          <a:xfrm>
            <a:off x="4599432" y="3749040"/>
            <a:ext cx="34655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実験設定（データセット・環境・ベースライン・評価指標）と主要な定量結果。数値は論文の表・図から引用し番号を添える。</a:t>
            </a:r>
            <a:endParaRPr lang="en-US" sz="1200" dirty="0"/>
          </a:p>
        </p:txBody>
      </p:sp>
      <p:sp>
        <p:nvSpPr>
          <p:cNvPr id="9" name="Text 20"/>
          <p:cNvSpPr/>
          <p:nvPr>
            <p:ph idx="124" type="body" hasCustomPrompt="1"/>
          </p:nvPr>
        </p:nvSpPr>
        <p:spPr>
          <a:xfrm>
            <a:off x="621792" y="5349240"/>
            <a:ext cx="34655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著者が認める限界・考察と、調査者の所感（前提の妥当性・再現性・応用可能性）。両者を区別して書く。</a:t>
            </a:r>
            <a:endParaRPr lang="en-US" sz="1200" dirty="0"/>
          </a:p>
        </p:txBody>
      </p:sp>
      <p:sp>
        <p:nvSpPr>
          <p:cNvPr id="10" name="Text 20"/>
          <p:cNvSpPr/>
          <p:nvPr>
            <p:ph idx="125" type="body" hasCustomPrompt="1"/>
          </p:nvPr>
        </p:nvSpPr>
        <p:spPr>
          <a:xfrm>
            <a:off x="4599432" y="5349240"/>
            <a:ext cx="34655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原典・比較対象・後続研究など系譜上つながる論文。ブランチの README 一覧と対応させ、未調査のものはその旨を付記する。</a:t>
            </a:r>
            <a:endParaRPr lang="en-US" sz="1200" dirty="0"/>
          </a:p>
        </p:txBody>
      </p:sp>
      <p:sp>
        <p:nvSpPr>
          <p:cNvPr id="11" name="Text 20"/>
          <p:cNvSpPr/>
          <p:nvPr>
            <p:ph idx="129" type="body" hasCustomPrompt="1"/>
          </p:nvPr>
        </p:nvSpPr>
        <p:spPr>
          <a:xfrm>
            <a:off x="8549640" y="4937760"/>
            <a:ext cx="304769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発表：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会議・ジャーナル名, 発表年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リンク：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arXiv / DOI / プロジェクトページ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系譜：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原典・発展・最新 のいずれか（親論文）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調査日：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YYYY-MM-DD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確認範囲：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全文（問題提起・実験・結果・考察まで）</a:t>
            </a:r>
            <a:endParaRPr lang="en-US" sz="1050" dirty="0"/>
          </a:p>
        </p:txBody>
      </p:sp>
      <p:sp>
        <p:nvSpPr>
          <p:cNvPr id="12" name="Text 20"/>
          <p:cNvSpPr/>
          <p:nvPr>
            <p:ph idx="130" type="body" hasCustomPrompt="1"/>
          </p:nvPr>
        </p:nvSpPr>
        <p:spPr>
          <a:xfrm>
            <a:off x="45720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Research Survey ｜ 分野名 › テーマ名</a:t>
            </a:r>
            <a:endParaRPr lang="en-US" sz="1000" dirty="0"/>
          </a:p>
        </p:txBody>
      </p:sp>
      <p:sp>
        <p:nvSpPr>
          <p:cNvPr id="14" name="figure-frame"/>
          <p:cNvSpPr/>
          <p:nvPr/>
        </p:nvSpPr>
        <p:spPr>
          <a:xfrm>
            <a:off x="8412480" y="1645920"/>
            <a:ext cx="3322015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5875">
            <a:solidFill>
              <a:srgbClr val="C9CFDB"/>
            </a:solidFill>
            <a:prstDash val="dash"/>
          </a:ln>
        </p:spPr>
      </p:sp>
      <p:sp>
        <p:nvSpPr>
          <p:cNvPr id="15" name="figure-guide"/>
          <p:cNvSpPr txBox="1"/>
          <p:nvPr/>
        </p:nvSpPr>
        <p:spPr>
          <a:xfrm>
            <a:off x="8641080" y="1874520"/>
            <a:ext cx="286481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代表図</a:t>
            </a:r>
            <a:endParaRPr lang="en-US" sz="1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手法の全体像または主要結果を示す論文中の図を1点引用し、下部に「出典：Fig. 1」のように図番号を記載する。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8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落合陽一フォーマット テンプレート</dc:title>
  <dc:subject>PptxGenJS Presentation</dc:subject>
  <dc:creator>PptxGenJS</dc:creator>
  <cp:lastModifiedBy>PptxGenJS</cp:lastModifiedBy>
  <cp:revision>1</cp:revision>
  <dcterms:created xsi:type="dcterms:W3CDTF">2026-10-23T17:39:54Z</dcterms:created>
  <dcterms:modified xsi:type="dcterms:W3CDTF">2026-10-23T17:39:54Z</dcterms:modified>
</cp:coreProperties>
</file>