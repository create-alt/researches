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本文は GECCO 2005 予稿の公開版（gpbib.pmacs.upenn.edu/gecco2005/docs/p161.pdf）で全文確認。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PLOS ONE（OA）版 PDF で全文確認。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論文に図はなく、代表図としてアルゴリズム1を使用。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HIAI_PAP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0876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61848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どんなもの？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0" y="150876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6" name="Text 4"/>
          <p:cNvSpPr/>
          <p:nvPr/>
        </p:nvSpPr>
        <p:spPr>
          <a:xfrm>
            <a:off x="4526280" y="161848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0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先行研究と比べてどこがすごい？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26440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246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技術や手法のキモはどこ？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315468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326440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3246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どうやって有効だと検証した？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0060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91032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議論はある？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9120" y="480060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491032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4892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次に読むべき論文は？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66760" y="4389120"/>
            <a:ext cx="3367735" cy="1920240"/>
          </a:xfrm>
          <a:prstGeom prst="rect">
            <a:avLst>
              <a:gd name="adj" fmla="val 3810"/>
            </a:avLst>
          </a:prstGeom>
          <a:solidFill>
            <a:srgbClr val="F2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480560"/>
            <a:ext cx="3093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書誌情報</a:t>
            </a:r>
            <a:endParaRPr lang="en-US" sz="1300" dirty="0"/>
          </a:p>
        </p:txBody>
      </p:sp>
      <p:sp>
        <p:nvSpPr>
          <p:cNvPr id="22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3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4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6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7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8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29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30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50" dirty="0"/>
          </a:p>
        </p:txBody>
      </p:sp>
      <p:sp>
        <p:nvSpPr>
          <p:cNvPr id="3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HIAI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112772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1127729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508760"/>
            <a:ext cx="1127729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45/1068009.1068035" TargetMode="External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006.11886" TargetMode="Externa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371/journal.pone.0275094" TargetMode="Externa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206.08896" TargetMode="Externa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401.02051" TargetMode="Externa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405.20132" TargetMode="Externa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502.11225" TargetMode="Externa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504.09247" TargetMode="Externa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508.00229" TargetMode="Externa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512.09209" TargetMode="External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群知能 ｜ 先行研究調査（2026-10-23）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GA との融合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5087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PSO と GA/進化計算の融合は、GA 演算子を PSO に組み込む手作りハイブリッド（Breeding Swarms 2005）から、</a:t>
            </a:r>
            <a:endParaRPr lang="en-US" sz="13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融合方式のモジュール化・自動構成（PSODE, METAFOR）を経て、LLM を変異/交叉演算子や設計者として使う段階へ。</a:t>
            </a:r>
            <a:endParaRPr lang="en-US" sz="13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ELM→EoH/LLaMEA→LMPSO・群知能アルゴリズムとプロンプトの共進化（2025）が最新の流れ。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群知能 › GA との融合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1127729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685800"/>
                <a:gridCol w="6949440"/>
                <a:gridCol w="1828800"/>
                <a:gridCol w="1401775"/>
              </a:tblGrid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#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論文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発表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系譜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Breeding Swarms (Settles+ 2005)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GECCO 2005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原典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PSODE (Boks+ 2020)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GECCO 2020 Companion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Swarming GA (Aivaliotis-Apostolopoulos+ 2022)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PLOS ONE 2022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ELM (Lehman+ 2022)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arXiv プレプリント 2022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原典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EoH (Liu+ 2024)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ICML 2024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LLaMEA (van Stein &amp; Bäck 2024)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IEEE TEVC 2025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METAFOR (Camacho-Villalón+ 2025)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arXiv プレプリント 2025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LMPSO (Shinohara+ 2025)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IEEE CEC 2025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Consecutive PSO-GA (Urbańczyk+ 2025)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ICCS 2025 Workshops (LNCS)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群知能×プロンプト共進化 (Cen &amp; Tan 2025)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arXiv プレプリント 2025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群知能 › GA との融合 ｜ 系譜：原典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Breeding Swarms: A GA/PSO Hybrid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Matthew Settles, Terence Soule（University of Idaho）｜ GECCO 2005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PSO の速度・位置更新に GA の選択・交叉・突然変異を組み込んだ Breeding Swarms (BS) を提案。速度ベクトルを使う新交叉 VPAC で群を拡散させ、5つの関数最小化で GA・PSO の双方をほぼ一貫して上回った。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Løvbjerg+ (2001) の算術交叉入り PSO は改善が小さく、Robinson+ (2002) の GA→PSO 初期化型も効果は限定的だった。BS は GA を大域探索、PSO を局所探索に割り当てて1世代の中で密に結合した。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毎世代、下位 N·Ψ 個体（繁殖比 Ψ=0.5）を捨て、残りを PSO で更新。不足分はトーナメント選択した親に VPAC 交叉と変異を適用して補う。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VPAC: c1 = (p1+p2)/2 − φ1·v(p1)（親の速度と逆向きに子を押し出す）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Ellipsoid/Rosenbrock/Rastrigin/Griewank/Ackley（10〜30次元、50試行）。非対称初期化 30D の Ackley で GA 19.8、PSO 5.6（慣性）に対し BS は 1e-14 オーダー（Table 4）。ただし Griewank 30D（対称初期化）では GA と同等以下（Table 3）。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著者：VPAC が収束後も群を散らし続けるため、局所解に捕まりにくい。繁殖比などの調整は今後の課題。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所感：繁殖比 0.5 は固定で感度分析がない。評価が原点近傍に最適解を持つ関数のみで、今日の基準では検証が弱い。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・HGAPSO (Juang 2004)（未調査）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・Swarming GA (2022)（本資料）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・PSO with crossover review (Engelbrecht 2016)（未調査）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GECCO 2005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https://doi.org/10.1145/1068009.1068035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原典（← Angeline 1998 / Løvbjerg+ 2001（本文未確認））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2026-10-23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群知能 › GA との融合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warm-intelligence/ga-hybrid/figures/breeding_swarms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695178"/>
            <a:ext cx="3367735" cy="200460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出典：Breeding Swarms Fig. 1（世代内の PSO 更新と GA 繁殖の流れ）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群知能 › GA との融合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 Modular Hybridization of Particle Swarm Optimization and Differential Evolution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Rick Boks, Hao Wang, Thomas Bäck（Leiden University）｜ GECCO 2020 Companion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PSO と DE の変種をモジュール化し、両者の変異演算子を組み合わせるハイブリッド枠組み PSODE を提案。速度更新・トポロジー・DE 変異・交叉・選択の組合せで 800 通りの新しい群アルゴリズムを生成し、BBOB で一斉に評価した。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 PSO-DE ハイブリッド（DEPSO, SDEA など）は手作りの単一設計で、変種の多くは1〜2演算子の差しかない。PSODE は modular CMA-ES の考え方を群知能に持ち込み、「設計空間」として扱った点が新しい。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P0 から PSO 更新で P1、DE 変異で P2、P0×P2 の DE 交叉で P3 を作り、P0/P1/P3 から選択（pairwise/union × 2/3 集団）。DE 由来の個体は速度が不整合になるため v ← x(P3) − x(P0) で速度を再計算する。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BBOB 24関数、5D/20D、予算 10⁴n、30試行、ERT で 830 インスタンスを順位付け。上位5つは DE 単体で、最良ハイブリッドは 6〜10位（Table 2）。PSO 単体は全て DE と多くの PSODE に負けた（Fig. 1）。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著者：減衰慣性重み・pairwise/3 選択・二項交叉の組合せが有効、Bare-Bones PSO は不利。トポロジーの影響は小さい。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所感：最良の DE に届かない結果を正直に報告している点がよい。融合の良し悪しは設計次第で、自動選択が必須だと示した。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・METAFOR (2025)（本資料）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・PSO-X (Camacho-Villalón+ 2022)（未調査）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・LLaMEA (2024)（本資料）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GECCO 2020 Companion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https://arxiv.org/abs/2006.11886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DEPSO (Zhang &amp; Xie 2003)）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2026-10-23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群知能 › GA との融合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warm-intelligence/ga-hybrid/figures/psode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81585"/>
            <a:ext cx="3367735" cy="1631789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出典：PSODE Fig. 1 の F1–5・F6–9 部分（上位アルゴリズムの ECDF。実線 DE、破線 PSODE）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群知能 › GA との融合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Swarming genetic algorithm: A nested fully coupled hybrid of genetic algorithm and particle swarm optimization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Panagiotis Aivaliotis-Apostolopoulos, Dimitrios Loukidis（University of Cyprus）｜ PLOS ONE 2022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GA の外側ループの中に PSO ループを入れ子にする Swarming GA (SGA) を提案。毎世代、集団の 20% を抜き出して PSO を 100 反復かけてから戻す。連続問題と TSP の両方で GA・PSO・既存ハイブリッドより平均順位が良かった。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HPSOM（PSO に GA 変異を追加）や PGPHEA（GA と PSO の並列実行と個体交換）は、探索（GA）と活用（PSO）の配分が固定的だった。SGA は PSO を一部の個体だけに入れ子で使い、GA の探索性を残す。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MG 個体の GA（変異 20%・交叉 60%・エリート交叉 20%）を回し、ng 世代ごとに MP 個体を無作為抽出して np 回の PSO を実行。PSO 開始時に速度ゼロ、個人最良を現在位置にリセットし、前ブロックの記憶は持たない。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 の標準関数で SGA の平均順位 1.57（PGPHEA 2.07、PSO 2.93、Table 6）。CEC2017（50D, 29関数）では 22 関数で平均誤差最小、平均順位 1.28（Table 9）。TSPLIB 9問では 5問で最良（Table 11）。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著者：GA 単体より速く、PSO の早期収束も避けられる。ただし PGPHEA との差は Set A で有意でない（Wilcoxon p=0.19）。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所感：パラメータは試行錯誤で決めた「最適値」で、比較相手の調整度合いに偏りがありうる。入れ子比率の感度分析が欲しい。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・Consecutive PSO-GA (2025)（本資料）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・PGPHEA (Shi+ 2003)（未調査）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・HPSOM (Esmin+ 2005)（未調査）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PLOS ONE 2022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https://doi.org/10.1371/journal.pone.0275094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Breeding Swarms / PGPHEA (Shi+ 2003)）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2026-10-23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群知能 › GA との融合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warm-intelligence/ga-hybrid/figures/sga_fig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700841"/>
            <a:ext cx="3367735" cy="199327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出典：Swarming GA Fig. 6（GA ループ内に PSO を入れ子にする流れ図）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群知能 › GA との融合 ｜ 系譜：原典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Evolution through Large Models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Joel Lehman, Jonathan Gordon, Shawn Jain, Kamal Ndousse, Cathy Yeh, Kenneth O. Stanley（OpenAI）｜ arXiv 2022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コードを学習した LLM（diff モデル）を遺伝的プログラミングの変異演算子として使う ELM を提案。MAP-Elites と組み合わせ、Sodarace の歩行ロボットを生成する Python プログラムを、1つの種プログラムから数十万件生成した。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 GP はランダムな摂動でコードを変異させるため、複数箇所を連動して直すことが難しく、扱える言語・関数集合も専門家が絞る必要があった。ELM は人間のコード変更を学んだ LLM で「意味のある変異」を行う。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LLM にプログラムとコミットメッセージ（例: "Changed make walker function"）を与え、差分を出力させて変異とする。受理された差分で LLM を追加学習すると、変異演算子自体も改善できる。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4-Parity のバグ修正では、GP 変異は5バグで 10万回中成功 0、diff 変異は修正できた（Fig. 1）。MAP-Elites 1,728 ニッチの大半を埋め（Fig. 8）、追加学習した diff モデルで有効な差分の比率と QD スコアが上がった（Fig. 11）。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著者：GP 側は分布外の領域を探索でき、LLM 側は意味のある変化を作れるという相補性があり、生成データで新しい領域のモデルを学習させられる。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所感：本論は GP の話で群知能は扱わないが、「LLM を変異・交叉演算子にする」という以後の流れの起点。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・Language Model Crossover (Meyerson+ 2023)（未調査）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・EoH (2024)（本資料）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・FunSearch (Romera-Paredes+ 2024)（未調査）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プレプリント 2022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https://arxiv.org/abs/2206.08896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原典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2026-10-23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群知能 › GA との融合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warm-intelligence/ga-hybrid/figures/elm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05516"/>
            <a:ext cx="3367735" cy="178392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出典：ELM Fig. 1（バグ数ごとの変異成功率。GP 変異と diff 変異の比較）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群知能 › GA との融合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Evolution of Heuristics: Towards Efficient Automatic Algorithm Design Using Large Language Model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Fei Liu, Xialiang Tong, Mingxuan Yuan ほか（City University of Hong Kong）｜ ICML 2024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ヒューリスティックを「自然言語の考え (thought)」と「コード」の対で表し、LLM に交叉・変異をさせて集団進化させる EoH を提案。オンラインビンパッキングでは約 2,000 回の LLM 問い合わせで、FunSearch（約100万回）と同等以上の解を得た。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FunSearch はコードだけを進化させ、数百万回の LLM 呼び出しが必要だった。GP による自動ヒューリスティック設計は基本要素を人手で定義する必要がある。EoH は考えとコードを同時に進化させ、プロンプト戦略を明示的に設計する。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集団 N 個体に5つのプロンプト戦略を適用：E1/E2 は交叉的な探索（親と異なる案、親の共通概念から新案）、M1〜M3 は変異（改良・パラメータ変更・冗長部分の削除）。選択確率は pi ∝ 1/(ri+N)（ri は順位）。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ビンパッキング Weibull 1k/C500 で下界との差 2.13%（FunSearch 6.75%、Table 1）。TSPLib の GLS 設計で3インスタンスの最良既知解に到達し（Table 2）、FSSP の Taillard で全セット最良（Table 3）。thought を除くと大きく悪化した（Table 4）。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著者：探索空間の理論的理解、ドメイン特化 LLM、人間との協調が今後の課題。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所感：GA 演算子を LLM への指示に置き換えた代表例。ただし評価は組合せ問題中心で、群知能（PSO 等）の演算子設計は直接扱っていない。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・ReEvo (Ye+ 2024)（未調査）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・LLaMEA (2024)（本資料）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・群知能×プロンプト共進化 (2025)（本資料）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ICML 2024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https://arxiv.org/abs/2401.02051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ELM / FunSearch）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2026-10-23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群知能 › GA との融合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warm-intelligence/ga-hybrid/figures/eoh_fi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735571"/>
            <a:ext cx="3367735" cy="1923819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出典：EoH Fig. 2（ビンパッキングでの世代ごとの考え・コードと性能の推移）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群知能 › GA との融合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LLaMEA: A Large Language Model Evolutionary Algorithm for Automatically Generating Metaheuristics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Niki van Stein, Thomas Bäck（Leiden University）｜ IEEE TEVC 2025（arXiv 2024）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(1+,1)-ES の枠組みで LLM にメタヒューリスティックのコード全体（Python クラス）を生成・改良させる LLaMEA を提案。BBOB 5D で CMA-ES を上回るアルゴリズムを自動生成し、DE/PSO ハイブリッドも多く生まれた。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PSODE や modular CMA-ES などのモジュール型枠組みは、専門家が選んだ部品の組合せに設計空間が限られる。EoH は単一関数しか扱えず、エラー時の自己デバッグもない。LLaMEA は部品を固定せず、実行エラーも LLM にフィードバックする。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タスク説明・過去アルゴリズム名とスコア一覧・選択した親のコードを与え、「改良か再設計」を LLM に選ばせる。評価指標は BBOB 全体の AOCC（収束曲線上側面積）で、エラー時はスコア 0。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GPT-4/4o/3.5 で各 100 回×5試行。生成された 4,500 個中 3,657 個が有効。EAF 下面積で ERADS 0.733 が CMA-ES 0.703 を上回り、DEPSO・量子 PSO 系の生成物も DE 0.628 を超えた（Table I）。EoH より速く収束（Fig. 3）。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著者：LLM は膨大な部品を持つ「普遍的モジュール型枠組み」とみなせる。プロンプト依存性、コード実行の信頼性、コストが課題。</a:t>
            </a:r>
            <a:endParaRPr lang="en-US" sz="12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所感：比喩ベースの新アルゴリズム量産を批判し、生成物の多くが DE/CMA 系ハイブリッドに偏ることも認めている。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・Behaviour Space Analysis (2025)（未調査）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・LLaMEA-SAGE (2026)（未調査）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・METAFOR (2025)（本資料）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IEEE TEVC 2025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https://arxiv.org/abs/2405.20132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EoH / PSODE）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2026-10-23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群知能 › GA との融合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warm-intelligence/ga-hybrid/figures/llamea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958507"/>
            <a:ext cx="3367735" cy="1477946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出典：LLaMEA Fig. 1（LLM 駆動のアルゴリズム生成・評価・改良ループ）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群知能 › GA との融合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METAFOR: A Hybrid Metaheuristics Software Framework for Single-Objective Continuous Optimization Problems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Christian Camacho-Villalón, Marco Dorigo, Thomas Stützle（IRIDIA, Université Libre de Bruxelles）｜ arXiv 2025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PSO・DE・CMA-ES・局所探索の 100 以上の部品（104 パラメータ）を組み合わせられるハイブリッド枠組み METAFOR を構築。irace で 17 実装を自動設計し、CMA-ES を含む自動ハイブリッドが単一手法より頑健だと示した。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PSODE（modPSODE）は部品数が少なく、2集団からの選択という粗い融合しかできない。PSO-X や autoDE は単一手法の枠組み。METAFOR は部品単位・確率的切替・多段フェーズの3方式で細かく融合できる。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Execution 部品が融合方式を決める：同じ部品を全個体に適用、確率 pr で切替、予算 xb ごとにモジュールを順に実行。PSO の速度更新は v ← ω1·v + ω2·DNPP + ω3·Pert の一般形で表す。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CEC'05/'14・SOCO'10 の 50 関数（50〜1250 次元）。50D の全関数平均順位で PSO–CMAES(LDOUT) が 5.48 と最良、標準 PSO 13.36、DE 既定 14.62（Table 4）。100D では全空間を探索した MTF(LDOUT) が最良（Table 5）。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著者：CMA-ES に予算の 55〜75% を割き残りを PSO か DE にする配分がよい。高次元では DE 単体が強い。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所感：自動設計で「ハイブリッドは本当に効くか」に答えた定量研究。訓練に使う関数の選び方（25OUT/LDOUT）で結論が変わる点は要注意。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・PSO-X (Camacho-Villalón+ 2022)（未調査）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・LLaMEA (2024)（本資料）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・Robustness of Hybrid Metaheuristics (2025)（未調査）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プレプリント 2025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https://arxiv.org/abs/2502.11225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PSODE / PSO-X）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2026-10-23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群知能 › GA との融合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warm-intelligence/ga-hybrid/figures/metafor_al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12987"/>
            <a:ext cx="3367735" cy="1768986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出典：METAFOR Algorithm 1（PSO/DE/CMA-ES/局所探索を統合するテンプレート）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群知能 › GA との融合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Large Language Models as Particle Swarm Optimizers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Yamato Shinohara, Jinglue Xu, Tianshui Li, Hitoshi Iba（The University of Tokyo）｜ IEEE CEC 2025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PSO の各粒子の「速度」をプロンプトとして表し、LLM に次の位置（解）を生成させる LMPSO を提案。TSP・ヒューリスティック改良・シンボリック回帰で検証し、構造化された解（式・プログラム）の探索で特に有効だと示した。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LLM を GA に組み込む LMEA や OPRO はあるが、群知能の枠組みを明示的に使う研究はなかった。従来の離散 PSO は問題ごとに速度・位置の定義を作り込む必要があったが、LMPSO はプロンプトを変えるだけで適用できる。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メタプロンプトは問題記述・慣性項 v_t（現在位置の生成指示）・現在位置 x_t・次の方向 v_{t+1}（pbest と gbest を含む指示）で構成。制約を満たさない出力は再試行か再初期化。LLM は Llama-3.1-8B-Instruct。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TSP 10都市で最適性ギャップ 0.02%（TSP 専用 PSO 0.08%）、30都市は 0.73% で挿入法に劣る（Table II）。生成したヒューリスティックは100都市で 0.06%（Table III）。PMLB 回帰で gplearn GP より R² が高い（Table IV）。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著者：大規模な解表現の直接最適化は苦手で、ヒューリスティック改良に置き換えると有効。LLM の性能依存性の評価が今後の課題。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所感：30都市の TSP に約1時間かかるなど計算コストが大きい。GA 版 LLM 最適化との直接比較がない。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・LMEA (Liu+ 2024)（未調査）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・OPRO (Yang+ 2024)（未調査）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・群知能×プロンプト共進化 (2025)（本資料）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IEEE CEC 2025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https://arxiv.org/abs/2504.09247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LMEA / OPRO）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2026-10-23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群知能 › GA との融合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warm-intelligence/ga-hybrid/figures/lmpso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97643"/>
            <a:ext cx="3367735" cy="159967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出典：LMPSO Fig. 1（速度をプロンプトで表した TSP 用メタプロンプトの例）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群知能 › GA との融合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Sequential, Parallel and Consecutive Hybrid Evolutionary-Swarm Optimization Metaheuristics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Piotr Urbańczyk, Aleksandra Urbańczyk, Magdalena Król ほか（AGH University of Krakow）｜ ICCS 2025 Workshops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PSO と GA の融合方式（逐次 PGSHEA・並列 PGPHEA・新提案の交互型 PGCHEA）を 10〜1000 次元で体系的に比較。高次元では融合が単体より優れ、並列型が最も安定した。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多数の PSO-GA ハイブリッドが提案されてきたが、方式間を次元数を変えて同条件で比べた研究は少ない。単純な逐次切替では GA ステップで速度と個人最良が失われ、PSO の勢いが途切れる。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PGCHEA は PSO ステップと GA ステップを1回ずつ交互に適用。GA の交叉で子が親の速度と個人最良 p_i を受け継ぐよう変異演算子を改変し、GA 中も個人最良を保持する。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7関数×5次元、各10試行。Rastrigin 1000D で PGPHEA 3711、GA 9010、PSO 7675（Table 3）。500D 以上では大半の関数で PGPHEA が最良、PGCHEA は Shifted Rotated Weierstrass の 50/500/1000D で最良（Table 4）。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著者：PGPHEA が最も汎用的。PGCHEA は非分離・複雑な地形で強みがあり追加検討が必要（No Free Lunch）。</a:t>
            </a:r>
            <a:endParaRPr lang="en-US" sz="12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所感：試行数 10 で評価予算 25,000 は高次元には少ない。提案手法 PGCHEA が多くの関数で GA にも負けている点は注意。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・Swarming GA (2022)（本資料）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・PGPHEA (Shi+ 2003)（未調査）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・PGA (Shao+ 2023)（未調査）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ICCS 2025 Workshops (LNCS)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https://arxiv.org/abs/2508.00229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PGPHEA (Shi+ 2003) / Swarming GA）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2026-10-23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群知能 › GA との融合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warm-intelligence/ga-hybrid/figures/pgchea_fig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55546"/>
            <a:ext cx="3367735" cy="168386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出典：Consecutive PSO-GA Fig. 1(e)（Rastrigin 1000D の収束曲線）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群知能 › GA との融合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Beyond Algorithm Evolution: An LLM-Driven Framework for the Co-Evolution of Swarm Intelligence Optimization Algorithms and Prompts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Shipeng Cen, Ying Tan（Peking University）｜ arXiv 2025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1つの LLM で群知能アルゴリズム（花火アルゴリズム FWA の爆発・変異・選択演算子）とその生成を導くプロンプトテンプレートを共進化させる枠組みを提案。制約の厳しい NP 困難問題で EoH・ReEvo・FunSearch を上回った。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EoH・FunSearch・ReEvo はアルゴリズムだけを進化させ、プロンプトは人手で固定のまま。難しい制約問題では構成的ヒューリスティックが失敗し、結局群知能の探索に頼っている。そこで群知能の演算子を設計対象とし、プロンプトも進化させ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変異・交叉用のテンプレートを別々のプールで管理し、テンプレートの性能を「それで生成した次世代アルゴリズムの改善量」の期待値で評価する。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Perf(P_t) = E[A_{t+1}(task) − A_t(task)]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CO-Bench の4種の問題、最大200アルゴリズム×5回、gpt-4o-mini。航空機着陸で平均 105.66%（EoH 43.04%、FunSearch 56.04%、Table 1）。p-median では FunSearch 99.88% と同等（99.87%）。プロンプト進化を外すと低下した（Table 5）。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著者：GPT-5・Qwen3-32B でも首位を保ち、強い LLM への依存が減る。モデルごとにプロンプトの進化経路は大きく異なる。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所感：比較相手は構成的ヒューリスティック設計で、初期 FWA だけでも高得点の問題があり、探索型が有利な設定。試行数と統計検定が不足している。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・LLM-driven customizable FWA (Cen &amp; Tan 2025)（未調査）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・ReEvo (Ye+ 2024)（未調査）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・LMPSO (2025)（本資料）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プレプリント 2025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https://arxiv.org/abs/2512.09209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EoH / LLM-driven FWA (Cen &amp; Tan 2025)）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2026-10-23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群知能 › GA との融合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warm-intelligence/ga-hybrid/figures/cen_tan_fi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699588"/>
            <a:ext cx="3367735" cy="1995783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出典：Cen &amp; Tan Fig. 2（FWA 集団とプロンプトテンプレート集団の共進化）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群知能 › GA との融合</dc:title>
  <dc:subject>PptxGenJS Presentation</dc:subject>
  <dc:creator>PptxGenJS</dc:creator>
  <cp:lastModifiedBy>PptxGenJS</cp:lastModifiedBy>
  <cp:revision>1</cp:revision>
  <dcterms:created xsi:type="dcterms:W3CDTF">2026-10-23T18:12:49Z</dcterms:created>
  <dcterms:modified xsi:type="dcterms:W3CDTF">2026-10-23T18:12:49Z</dcterms:modified>
</cp:coreProperties>
</file>